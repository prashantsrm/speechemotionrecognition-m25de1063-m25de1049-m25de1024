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LIpaKzJBPUbIPFHx82LSndYTl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42DE41-A561-48D9-83C5-F39529E43BE6}">
  <a:tblStyle styleId="{0642DE41-A561-48D9-83C5-F39529E43BE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9A84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C9A84C"/>
                </a:solidFill>
                <a:latin typeface="Arial"/>
              </a:rPr>
              <a:t>Training &amp; Validation Accuracy (53 Epochs)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solidFill>
              <a:srgbClr val="C9A84C"/>
            </a:solidFill>
            <a:ln w="25400" cap="flat">
              <a:solidFill>
                <a:srgbClr val="C9A8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Sheet1!$A$2:$A$54</c:f>
              <c:multiLvlStrCache>
                <c:ptCount val="53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6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11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16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21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26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31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36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41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>46</c:v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51</c:v>
                  </c:pt>
                  <c:pt idx="51">
                    <c:v/>
                  </c:pt>
                  <c:pt idx="52">
                    <c:v>53</c:v>
                  </c:pt>
                </c:lvl>
              </c:multiLvlStrCache>
            </c:multiLvlStrRef>
          </c:cat>
          <c:val>
            <c:numRef>
              <c:f>Sheet1!$B$2:$B$54</c:f>
              <c:numCache>
                <c:formatCode>General</c:formatCode>
                <c:ptCount val="53"/>
                <c:pt idx="0">
                  <c:v>18</c:v>
                </c:pt>
                <c:pt idx="1">
                  <c:v>21</c:v>
                </c:pt>
                <c:pt idx="2">
                  <c:v>24</c:v>
                </c:pt>
                <c:pt idx="3">
                  <c:v>27</c:v>
                </c:pt>
                <c:pt idx="4">
                  <c:v>30</c:v>
                </c:pt>
                <c:pt idx="5">
                  <c:v>32.5</c:v>
                </c:pt>
                <c:pt idx="6">
                  <c:v>35</c:v>
                </c:pt>
                <c:pt idx="7">
                  <c:v>37.5</c:v>
                </c:pt>
                <c:pt idx="8">
                  <c:v>40</c:v>
                </c:pt>
                <c:pt idx="9">
                  <c:v>42.5</c:v>
                </c:pt>
                <c:pt idx="10">
                  <c:v>45</c:v>
                </c:pt>
                <c:pt idx="11">
                  <c:v>47.5</c:v>
                </c:pt>
                <c:pt idx="12">
                  <c:v>50</c:v>
                </c:pt>
                <c:pt idx="13">
                  <c:v>52.5</c:v>
                </c:pt>
                <c:pt idx="14">
                  <c:v>55</c:v>
                </c:pt>
                <c:pt idx="15">
                  <c:v>56.2</c:v>
                </c:pt>
                <c:pt idx="16">
                  <c:v>57.4</c:v>
                </c:pt>
                <c:pt idx="17">
                  <c:v>58.6</c:v>
                </c:pt>
                <c:pt idx="18">
                  <c:v>59.8</c:v>
                </c:pt>
                <c:pt idx="19">
                  <c:v>61</c:v>
                </c:pt>
                <c:pt idx="20">
                  <c:v>62.2</c:v>
                </c:pt>
                <c:pt idx="21">
                  <c:v>63.4</c:v>
                </c:pt>
                <c:pt idx="22">
                  <c:v>64.6</c:v>
                </c:pt>
                <c:pt idx="23">
                  <c:v>65.8</c:v>
                </c:pt>
                <c:pt idx="24">
                  <c:v>67</c:v>
                </c:pt>
                <c:pt idx="25">
                  <c:v>68.2</c:v>
                </c:pt>
                <c:pt idx="26">
                  <c:v>69.4</c:v>
                </c:pt>
                <c:pt idx="27">
                  <c:v>70.6</c:v>
                </c:pt>
                <c:pt idx="28">
                  <c:v>71.8</c:v>
                </c:pt>
                <c:pt idx="29">
                  <c:v>73</c:v>
                </c:pt>
                <c:pt idx="30">
                  <c:v>73.3</c:v>
                </c:pt>
                <c:pt idx="31">
                  <c:v>73.6</c:v>
                </c:pt>
                <c:pt idx="32">
                  <c:v>73.9</c:v>
                </c:pt>
                <c:pt idx="33">
                  <c:v>74.2</c:v>
                </c:pt>
                <c:pt idx="34">
                  <c:v>74.5</c:v>
                </c:pt>
                <c:pt idx="35">
                  <c:v>74.8</c:v>
                </c:pt>
                <c:pt idx="36">
                  <c:v>75.1</c:v>
                </c:pt>
                <c:pt idx="37">
                  <c:v>75.4</c:v>
                </c:pt>
                <c:pt idx="38">
                  <c:v>75.7</c:v>
                </c:pt>
                <c:pt idx="39">
                  <c:v>76</c:v>
                </c:pt>
                <c:pt idx="40">
                  <c:v>76.3</c:v>
                </c:pt>
                <c:pt idx="41">
                  <c:v>76.6</c:v>
                </c:pt>
                <c:pt idx="42">
                  <c:v>76.9</c:v>
                </c:pt>
                <c:pt idx="43">
                  <c:v>77.2</c:v>
                </c:pt>
                <c:pt idx="44">
                  <c:v>77.5</c:v>
                </c:pt>
                <c:pt idx="45">
                  <c:v>77</c:v>
                </c:pt>
                <c:pt idx="46">
                  <c:v>77.1</c:v>
                </c:pt>
                <c:pt idx="47">
                  <c:v>77.2</c:v>
                </c:pt>
                <c:pt idx="48">
                  <c:v>77.2</c:v>
                </c:pt>
                <c:pt idx="49">
                  <c:v>77.3</c:v>
                </c:pt>
                <c:pt idx="50">
                  <c:v>77.3</c:v>
                </c:pt>
                <c:pt idx="51">
                  <c:v>77.3</c:v>
                </c:pt>
                <c:pt idx="52">
                  <c:v>77.4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solidFill>
              <a:srgbClr val="2DD4BF"/>
            </a:solidFill>
            <a:ln w="25400" cap="flat">
              <a:solidFill>
                <a:srgbClr val="2DD4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Sheet1!$A$2:$A$54</c:f>
              <c:multiLvlStrCache>
                <c:ptCount val="53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6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11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16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21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26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31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36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41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>46</c:v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51</c:v>
                  </c:pt>
                  <c:pt idx="51">
                    <c:v/>
                  </c:pt>
                  <c:pt idx="52">
                    <c:v>53</c:v>
                  </c:pt>
                </c:lvl>
              </c:multiLvlStrCache>
            </c:multiLvlStrRef>
          </c:cat>
          <c:val>
            <c:numRef>
              <c:f>Sheet1!$C$2:$C$54</c:f>
              <c:numCache>
                <c:formatCode>General</c:formatCode>
                <c:ptCount val="53"/>
                <c:pt idx="0">
                  <c:v>16.9</c:v>
                </c:pt>
                <c:pt idx="1">
                  <c:v>18.1</c:v>
                </c:pt>
                <c:pt idx="2">
                  <c:v>19.5</c:v>
                </c:pt>
                <c:pt idx="3">
                  <c:v>21.6</c:v>
                </c:pt>
                <c:pt idx="4">
                  <c:v>23.5</c:v>
                </c:pt>
                <c:pt idx="5">
                  <c:v>25.3</c:v>
                </c:pt>
                <c:pt idx="6">
                  <c:v>28</c:v>
                </c:pt>
                <c:pt idx="7">
                  <c:v>32.7</c:v>
                </c:pt>
                <c:pt idx="8">
                  <c:v>37.2</c:v>
                </c:pt>
                <c:pt idx="9">
                  <c:v>38.4</c:v>
                </c:pt>
                <c:pt idx="10">
                  <c:v>36.8</c:v>
                </c:pt>
                <c:pt idx="11">
                  <c:v>36.5</c:v>
                </c:pt>
                <c:pt idx="12">
                  <c:v>40.1</c:v>
                </c:pt>
                <c:pt idx="13">
                  <c:v>46.1</c:v>
                </c:pt>
                <c:pt idx="14">
                  <c:v>50.2</c:v>
                </c:pt>
                <c:pt idx="15">
                  <c:v>51.1</c:v>
                </c:pt>
                <c:pt idx="16">
                  <c:v>50.9</c:v>
                </c:pt>
                <c:pt idx="17">
                  <c:v>52.2</c:v>
                </c:pt>
                <c:pt idx="18">
                  <c:v>54.7</c:v>
                </c:pt>
                <c:pt idx="19">
                  <c:v>57.1</c:v>
                </c:pt>
                <c:pt idx="20">
                  <c:v>58.2</c:v>
                </c:pt>
                <c:pt idx="21">
                  <c:v>60.4</c:v>
                </c:pt>
                <c:pt idx="22">
                  <c:v>63.2</c:v>
                </c:pt>
                <c:pt idx="23">
                  <c:v>64</c:v>
                </c:pt>
                <c:pt idx="24">
                  <c:v>62</c:v>
                </c:pt>
                <c:pt idx="25">
                  <c:v>59.8</c:v>
                </c:pt>
                <c:pt idx="26">
                  <c:v>61.2</c:v>
                </c:pt>
                <c:pt idx="27">
                  <c:v>65.8</c:v>
                </c:pt>
                <c:pt idx="28">
                  <c:v>69.7</c:v>
                </c:pt>
                <c:pt idx="29">
                  <c:v>69.8</c:v>
                </c:pt>
                <c:pt idx="30">
                  <c:v>67.5</c:v>
                </c:pt>
                <c:pt idx="31">
                  <c:v>66.5</c:v>
                </c:pt>
                <c:pt idx="32">
                  <c:v>67.9</c:v>
                </c:pt>
                <c:pt idx="33">
                  <c:v>70.2</c:v>
                </c:pt>
                <c:pt idx="34">
                  <c:v>71.8</c:v>
                </c:pt>
                <c:pt idx="35">
                  <c:v>73.1</c:v>
                </c:pt>
                <c:pt idx="36">
                  <c:v>74.8</c:v>
                </c:pt>
                <c:pt idx="37">
                  <c:v>76</c:v>
                </c:pt>
                <c:pt idx="38">
                  <c:v>74.1</c:v>
                </c:pt>
                <c:pt idx="39">
                  <c:v>73.3</c:v>
                </c:pt>
                <c:pt idx="40">
                  <c:v>73.2</c:v>
                </c:pt>
                <c:pt idx="41">
                  <c:v>74.1</c:v>
                </c:pt>
                <c:pt idx="42">
                  <c:v>75.2</c:v>
                </c:pt>
                <c:pt idx="43">
                  <c:v>75.4</c:v>
                </c:pt>
                <c:pt idx="44">
                  <c:v>74.4</c:v>
                </c:pt>
                <c:pt idx="45">
                  <c:v>73.6</c:v>
                </c:pt>
                <c:pt idx="46">
                  <c:v>73.6</c:v>
                </c:pt>
                <c:pt idx="47">
                  <c:v>74.4</c:v>
                </c:pt>
                <c:pt idx="48">
                  <c:v>74.9</c:v>
                </c:pt>
                <c:pt idx="49">
                  <c:v>75</c:v>
                </c:pt>
                <c:pt idx="50">
                  <c:v>74.9</c:v>
                </c:pt>
                <c:pt idx="51">
                  <c:v>75</c:v>
                </c:pt>
                <c:pt idx="52">
                  <c:v>74.8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A33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91A2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091A2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9A84C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9A84C"/>
                </a:solidFill>
                <a:latin typeface="Arial"/>
              </a:rPr>
              <a:t>Per-Emotion Accuracy (RAVDESS Test)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8899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0F4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899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Neutral</c:v>
                  </c:pt>
                  <c:pt idx="1">
                    <c:v>Calm</c:v>
                  </c:pt>
                  <c:pt idx="2">
                    <c:v>Happy</c:v>
                  </c:pt>
                  <c:pt idx="3">
                    <c:v>Sad</c:v>
                  </c:pt>
                  <c:pt idx="4">
                    <c:v>Angry</c:v>
                  </c:pt>
                  <c:pt idx="5">
                    <c:v>Fearful</c:v>
                  </c:pt>
                  <c:pt idx="6">
                    <c:v>Disgust</c:v>
                  </c:pt>
                  <c:pt idx="7">
                    <c:v>Surprised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</c:v>
                </c:pt>
                <c:pt idx="1">
                  <c:v>97</c:v>
                </c:pt>
                <c:pt idx="2">
                  <c:v>80</c:v>
                </c:pt>
                <c:pt idx="3">
                  <c:v>80</c:v>
                </c:pt>
                <c:pt idx="4">
                  <c:v>93</c:v>
                </c:pt>
                <c:pt idx="5">
                  <c:v>93</c:v>
                </c:pt>
                <c:pt idx="6">
                  <c:v>90</c:v>
                </c:pt>
                <c:pt idx="7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0F4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1A33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91A2F"/>
        </a:solidFill>
        <a:ln>
          <a:noFill/>
        </a:ln>
        <a:effectLst/>
      </c:spPr>
    </c:plotArea>
    <c:plotVisOnly val="1"/>
    <c:dispBlanksAs val="span"/>
  </c:chart>
  <c:spPr>
    <a:solidFill>
      <a:srgbClr val="091A2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9A84C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9A84C"/>
                </a:solidFill>
                <a:latin typeface="Arial"/>
              </a:rPr>
              <a:t>Accuracy Across Datasets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0F4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RAVDESS Test
(same domain)</c:v>
                  </c:pt>
                  <c:pt idx="1">
                    <c:v>TESS Cross-Eval
(different speakers)</c:v>
                  </c:pt>
                  <c:pt idx="2">
                    <c:v>CREMA-D Cross-Eval
(different domain)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89.67</c:v>
                </c:pt>
                <c:pt idx="1">
                  <c:v>22</c:v>
                </c:pt>
                <c:pt idx="2">
                  <c:v>16.34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0F4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1A33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91A2F"/>
        </a:solidFill>
        <a:ln>
          <a:noFill/>
        </a:ln>
        <a:effectLst/>
      </c:spPr>
    </c:plotArea>
    <c:plotVisOnly val="1"/>
    <c:dispBlanksAs val="span"/>
  </c:chart>
  <c:spPr>
    <a:solidFill>
      <a:srgbClr val="091A2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000ebef3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e000ebef3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e000ebef3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3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2004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IIT JODHPUR  ·  TEAM X  ·  APRIL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20040" y="475488"/>
            <a:ext cx="56692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Speech Emotion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Recognition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20040" y="2148840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97A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E8C97A"/>
                </a:solidFill>
                <a:latin typeface="Cambria"/>
                <a:ea typeface="Cambria"/>
                <a:cs typeface="Cambria"/>
                <a:sym typeface="Cambria"/>
              </a:rPr>
              <a:t>Enhanced CNN + Bi-LSTM Ensemble System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20040" y="2596896"/>
            <a:ext cx="2377440" cy="2286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20040" y="2743200"/>
            <a:ext cx="36576" cy="38404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75488" y="274320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Asit Jain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75488" y="292608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M25DE1049  ·  Data Engineer &amp; Data Scientist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20040" y="3273552"/>
            <a:ext cx="36576" cy="38404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75488" y="327355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Avinash Singh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75488" y="3456432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M25DE1024  ·  Data Eng. &amp; Full Stack Dev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20040" y="3803904"/>
            <a:ext cx="36576" cy="38404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75488" y="380390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Prashant K. Mishra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75488" y="3986784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M25DE1063  ·  Data Eng. &amp; Solution Architect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446520" y="274320"/>
            <a:ext cx="2468880" cy="4434840"/>
          </a:xfrm>
          <a:prstGeom prst="rect">
            <a:avLst/>
          </a:prstGeom>
          <a:solidFill>
            <a:srgbClr val="091422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446520" y="384048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KEY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583680" y="749808"/>
            <a:ext cx="2194560" cy="548640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6583680" y="78638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75.10%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583680" y="1060704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Val 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583680" y="1408176"/>
            <a:ext cx="2194560" cy="548640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6583680" y="144475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89.67%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583680" y="171907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583680" y="2066544"/>
            <a:ext cx="2194560" cy="548640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6583680" y="21031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0.8955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583680" y="237744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F1 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6583680" y="2724912"/>
            <a:ext cx="2194560" cy="548640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6583680" y="276148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0.9913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6583680" y="3035808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6583680" y="3383280"/>
            <a:ext cx="2194560" cy="548640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6583680" y="341985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5.85ms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6583680" y="3694176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Inference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6583680" y="4041648"/>
            <a:ext cx="2194560" cy="548640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6583680" y="407822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53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6583680" y="4352544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Epochs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320040" y="4773168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~160 Hours  ·  9 Phases  ·  3 Datasets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/>
          <p:nvPr/>
        </p:nvSpPr>
        <p:spPr>
          <a:xfrm>
            <a:off x="502920" y="7315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Presentation 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02920" y="896112"/>
            <a:ext cx="8138160" cy="2286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8102A"/>
          </a:solidFill>
          <a:ln cap="flat" cmpd="sng" w="12700">
            <a:solidFill>
              <a:srgbClr val="081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0" y="4882896"/>
            <a:ext cx="9144000" cy="16459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182880" y="489204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Team X  ·  IIT Jodhpur  ·  Speech Emotion Recognition  ·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02920" y="1051560"/>
            <a:ext cx="4160520" cy="65836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502920" y="1051560"/>
            <a:ext cx="502920" cy="65836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502920" y="121615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097280" y="1106424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097280" y="13716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Why speech emotion recognition matters today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02920" y="1810512"/>
            <a:ext cx="4160520" cy="65836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502920" y="1810512"/>
            <a:ext cx="502920" cy="65836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502920" y="1975104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097280" y="1865376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1097280" y="213055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CNN, LSTM, Transformer approaches in 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02920" y="2569464"/>
            <a:ext cx="4160520" cy="65836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502920" y="2569464"/>
            <a:ext cx="502920" cy="65836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502920" y="2734056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1097280" y="26243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Dataset &amp; Analysis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1097280" y="288950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RAVDESS, CREMA-D, TESS — 11,682 samples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02920" y="3328416"/>
            <a:ext cx="4160520" cy="65836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502920" y="3328416"/>
            <a:ext cx="502920" cy="65836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502920" y="3493008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1097280" y="338328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1097280" y="364845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5-type acoustic pipeline: MFCC, Mel-Spec, ZCR, RMSE, Chroma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02920" y="4087368"/>
            <a:ext cx="4160520" cy="65836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502920" y="4087368"/>
            <a:ext cx="502920" cy="65836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502920" y="425196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1097280" y="41422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Model Architecture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1097280" y="440740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CNN + Bi-LSTM ensemble design with fusion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4828032" y="1051560"/>
            <a:ext cx="4160520" cy="65836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4828032" y="1051560"/>
            <a:ext cx="502920" cy="65836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4828032" y="121615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5422392" y="1106424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Training Process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5422392" y="13716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53 epochs, 4 experiments, CPU-only optimization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4828032" y="1810512"/>
            <a:ext cx="4160520" cy="65836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828032" y="1810512"/>
            <a:ext cx="502920" cy="65836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4828032" y="1975104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07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5422392" y="1865376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Results &amp; Evaluation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422392" y="213055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89.67% test accuracy, F1=0.8955, AUC=0.9913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828032" y="2569464"/>
            <a:ext cx="4160520" cy="65836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4828032" y="2569464"/>
            <a:ext cx="502920" cy="65836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4828032" y="2734056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08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422392" y="26243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Cross-Dataset Analysis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5422392" y="288950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Domain mismatch: CREMA-D 16.34%, TESS 22%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4828032" y="3328416"/>
            <a:ext cx="4160520" cy="65836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4828032" y="3328416"/>
            <a:ext cx="502920" cy="65836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4828032" y="3493008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09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422392" y="338328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System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422392" y="364845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Flask API + Web UI — real-time 5.85ms inference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828032" y="4087368"/>
            <a:ext cx="4160520" cy="65836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4828032" y="4087368"/>
            <a:ext cx="502920" cy="65836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4828032" y="425196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422392" y="41422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5422392" y="440740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Limitations, next steps, generalization roadmap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2"/>
          <p:cNvCxnSpPr/>
          <p:nvPr/>
        </p:nvCxnSpPr>
        <p:spPr>
          <a:xfrm>
            <a:off x="4709160" y="1005840"/>
            <a:ext cx="0" cy="3749040"/>
          </a:xfrm>
          <a:prstGeom prst="straightConnector1">
            <a:avLst/>
          </a:prstGeom>
          <a:noFill/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502920" y="7315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502920" y="896112"/>
            <a:ext cx="8138160" cy="2286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8102A"/>
          </a:solidFill>
          <a:ln cap="flat" cmpd="sng" w="12700">
            <a:solidFill>
              <a:srgbClr val="081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0" y="4882896"/>
            <a:ext cx="9144000" cy="16459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182880" y="489204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Team X  ·  IIT Jodhpur  ·  Speech Emotion Recognition  ·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02920" y="100584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Speech is the most natural human communication channel. Yet machines remain emotionally blind to the affective content embedded in vocal signals — limiting empathy, adaptability, and user experience in AI systems.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02920" y="1938528"/>
            <a:ext cx="3931920" cy="56692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640080" y="199339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🤖  Virtual Assistants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40080" y="223113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Emotionally adaptive Siri, Alexa, Google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502920" y="2606040"/>
            <a:ext cx="3931920" cy="56692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640080" y="266090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🧠  Mental Health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40080" y="289864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Depression/anxiety tracking via passive speech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502920" y="3273552"/>
            <a:ext cx="3931920" cy="56692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640080" y="332841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📞  Customer Service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640080" y="356616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Real-time frustration detection &amp; escalation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502920" y="3941064"/>
            <a:ext cx="3931920" cy="56692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640080" y="39959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🎓  E-Learning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640080" y="423367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Adapt pacing to confusion/engagement signals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4709160" y="960120"/>
            <a:ext cx="4160520" cy="1874520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4800600" y="1024128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RESEARCH CHALLENGES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4800600" y="1298448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▸  Emotion is subjective — same utterance, different interpretations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4800600" y="1554480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▸  High speaker variability: age, gender, dialect, acting style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800600" y="1810512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▸  Lab-recorded vs. spontaneous speech domain gap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4800600" y="2066544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▸  Class imbalance across emotion categories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800600" y="2322576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▸  Cross-dataset generalization remains an open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4709160" y="2944368"/>
            <a:ext cx="4160520" cy="1664208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4800600" y="3017520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OUR OBJECTIVE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4800600" y="3291840"/>
            <a:ext cx="3977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Design and train a CNN + Bi-LSTM ensemble model to classify 8 discrete emotional states from raw speech audio. Evaluate on RAVDESS benchmark with cross-dataset validation on CREMA-D and TESS. Deploy as a real-time Flask API.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502920" y="4590288"/>
            <a:ext cx="914400" cy="192024"/>
          </a:xfrm>
          <a:prstGeom prst="roundRect">
            <a:avLst>
              <a:gd fmla="val 23810" name="adj"/>
            </a:avLst>
          </a:prstGeom>
          <a:solidFill>
            <a:srgbClr val="1A3358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502920" y="4590288"/>
            <a:ext cx="914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1499616" y="4590288"/>
            <a:ext cx="914400" cy="192024"/>
          </a:xfrm>
          <a:prstGeom prst="roundRect">
            <a:avLst>
              <a:gd fmla="val 23810" name="adj"/>
            </a:avLst>
          </a:prstGeom>
          <a:solidFill>
            <a:srgbClr val="1A3358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1499616" y="4590288"/>
            <a:ext cx="914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Calm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2496312" y="4590288"/>
            <a:ext cx="914400" cy="192024"/>
          </a:xfrm>
          <a:prstGeom prst="roundRect">
            <a:avLst>
              <a:gd fmla="val 23810" name="adj"/>
            </a:avLst>
          </a:prstGeom>
          <a:solidFill>
            <a:srgbClr val="1A3358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2496312" y="4590288"/>
            <a:ext cx="914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Happy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3493008" y="4590288"/>
            <a:ext cx="914400" cy="192024"/>
          </a:xfrm>
          <a:prstGeom prst="roundRect">
            <a:avLst>
              <a:gd fmla="val 23810" name="adj"/>
            </a:avLst>
          </a:prstGeom>
          <a:solidFill>
            <a:srgbClr val="1A3358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3493008" y="4590288"/>
            <a:ext cx="914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502920" y="4599432"/>
            <a:ext cx="914400" cy="192024"/>
          </a:xfrm>
          <a:prstGeom prst="roundRect">
            <a:avLst>
              <a:gd fmla="val 23810" name="adj"/>
            </a:avLst>
          </a:prstGeom>
          <a:solidFill>
            <a:srgbClr val="1A3358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502920" y="4590288"/>
            <a:ext cx="914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Angry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1499616" y="4599432"/>
            <a:ext cx="914400" cy="192024"/>
          </a:xfrm>
          <a:prstGeom prst="roundRect">
            <a:avLst>
              <a:gd fmla="val 23810" name="adj"/>
            </a:avLst>
          </a:prstGeom>
          <a:solidFill>
            <a:srgbClr val="1A3358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1499616" y="4590288"/>
            <a:ext cx="914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Fearful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2496312" y="4599432"/>
            <a:ext cx="914400" cy="192024"/>
          </a:xfrm>
          <a:prstGeom prst="roundRect">
            <a:avLst>
              <a:gd fmla="val 23810" name="adj"/>
            </a:avLst>
          </a:prstGeom>
          <a:solidFill>
            <a:srgbClr val="1A3358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2496312" y="4590288"/>
            <a:ext cx="914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Disgust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3493008" y="4599432"/>
            <a:ext cx="914400" cy="192024"/>
          </a:xfrm>
          <a:prstGeom prst="roundRect">
            <a:avLst>
              <a:gd fmla="val 23810" name="adj"/>
            </a:avLst>
          </a:prstGeom>
          <a:solidFill>
            <a:srgbClr val="1A3358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3493008" y="4590288"/>
            <a:ext cx="914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Surprised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/>
          <p:nvPr/>
        </p:nvSpPr>
        <p:spPr>
          <a:xfrm>
            <a:off x="502920" y="7315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RELATED 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502920" y="896112"/>
            <a:ext cx="8138160" cy="2286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8102A"/>
          </a:solidFill>
          <a:ln cap="flat" cmpd="sng" w="12700">
            <a:solidFill>
              <a:srgbClr val="081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0" y="4882896"/>
            <a:ext cx="9144000" cy="16459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182880" y="489204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Team X  ·  IIT Jodhpur  ·  Speech Emotion Recognition  ·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502920" y="1051560"/>
            <a:ext cx="4160520" cy="169164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502920" y="1051560"/>
            <a:ext cx="4160520" cy="32004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640080" y="109728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CNN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640080" y="1463040"/>
            <a:ext cx="3886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Convolutional layers excel at extracting spatial features from spectrograms. Krizhevsky et al. (2012) demonstrated deep CNNs for image recognition, inspiring spectrogram-based emotion detection.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502920" y="2907792"/>
            <a:ext cx="4160520" cy="169164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502920" y="2907792"/>
            <a:ext cx="4160520" cy="32004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640080" y="295351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Bi-LSTM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640080" y="3319272"/>
            <a:ext cx="3886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Bidirectional LSTMs (Graves &amp; Schmidhuber, 2005) capture sequential dependencies in speech, processing temporal context in both forward and backward directions — critical for prosody.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4828032" y="1051560"/>
            <a:ext cx="4160520" cy="169164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4828032" y="1051560"/>
            <a:ext cx="4160520" cy="32004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4965192" y="109728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Ensemble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4965192" y="1463040"/>
            <a:ext cx="3886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Combining CNN spectral features with LSTM temporal features consistently outperforms single-model approaches in SER benchmarks, improving robustness across speakers and conditions.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4828032" y="2907792"/>
            <a:ext cx="4160520" cy="169164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4828032" y="2907792"/>
            <a:ext cx="4160520" cy="32004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4965192" y="295351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wav2vec2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4965192" y="3319272"/>
            <a:ext cx="3886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Transformer pre-trained on 960h LibriSpeech (Baevski et al., 2020) achieves strong cross-dataset generalization but requires GPU clusters and millions of samples — infeasible for CPU-only training.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502920" y="4617720"/>
            <a:ext cx="8138160" cy="201168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594360" y="4636008"/>
            <a:ext cx="7955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OUR APPROACH:  CNN extracts spectral patterns from Mel-Spectrograms  ·  Bi-LSTM captures temporal emotion dynamics  ·  Ensemble fusion maximizes complementary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/>
          <p:nvPr/>
        </p:nvSpPr>
        <p:spPr>
          <a:xfrm>
            <a:off x="502920" y="7315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Dataset &amp; Data Analysis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502920" y="896112"/>
            <a:ext cx="8138160" cy="2286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8102A"/>
          </a:solidFill>
          <a:ln cap="flat" cmpd="sng" w="12700">
            <a:solidFill>
              <a:srgbClr val="081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0" y="4882896"/>
            <a:ext cx="9144000" cy="16459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182880" y="489204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Team X  ·  IIT Jodhpur  ·  Speech Emotion Recognition  ·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502920" y="1005840"/>
            <a:ext cx="2706624" cy="196596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502920" y="1005840"/>
            <a:ext cx="2706624" cy="25603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594360" y="102412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RAVDESS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94360" y="132588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PRIMARY TRAINING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502920" y="1554480"/>
            <a:ext cx="27066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1,440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502920" y="2029968"/>
            <a:ext cx="2706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samples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594360" y="2231136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24 actors  ·  8 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594360" y="2450592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Professional actors · Studio · 16kHz WAV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3374136" y="1005840"/>
            <a:ext cx="2706624" cy="196596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3374136" y="1005840"/>
            <a:ext cx="2706624" cy="25603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3465576" y="102412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CREMA-D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3465576" y="132588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CROSS-DATASET EVAL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3374136" y="1554480"/>
            <a:ext cx="27066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7,442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3374136" y="2029968"/>
            <a:ext cx="2706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samples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3465576" y="2231136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91 actors  ·  6 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3465576" y="2450592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Crowd-sourced · Variable conditions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6245352" y="1005840"/>
            <a:ext cx="2706624" cy="196596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6245352" y="1005840"/>
            <a:ext cx="2706624" cy="25603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6336792" y="102412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TESS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6336792" y="132588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CROSS-DATASET EVAL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6245352" y="1554480"/>
            <a:ext cx="27066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2,800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6245352" y="2029968"/>
            <a:ext cx="2706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samples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6336792" y="2231136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2 speakers  ·  7 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6336792" y="2450592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Female speakers · Toronto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502920" y="3108960"/>
            <a:ext cx="4160520" cy="1572768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640080" y="3182112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RAVDESS SPLIT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640080" y="345643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Training Set (66%)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640080" y="363931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Actors 1–19 · 950 samples · 66/34 random split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2834640" y="3474720"/>
            <a:ext cx="1691640" cy="128016"/>
          </a:xfrm>
          <a:prstGeom prst="rect">
            <a:avLst/>
          </a:prstGeom>
          <a:solidFill>
            <a:srgbClr val="1A3358"/>
          </a:solidFill>
          <a:ln cap="flat" cmpd="sng" w="12700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2834640" y="3474720"/>
            <a:ext cx="1116482" cy="128016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640080" y="384048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Validation Set (34%)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640080" y="402336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Actors 1–19 · 490 samples · held within train group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2834640" y="3858768"/>
            <a:ext cx="1691640" cy="128016"/>
          </a:xfrm>
          <a:prstGeom prst="rect">
            <a:avLst/>
          </a:prstGeom>
          <a:solidFill>
            <a:srgbClr val="1A3358"/>
          </a:solidFill>
          <a:ln cap="flat" cmpd="sng" w="12700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2834640" y="3858768"/>
            <a:ext cx="575158" cy="128016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640080" y="42245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Test Set (held-out)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640080" y="440740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Actors 20–24 · 300 samples · never seen during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2834640" y="4242816"/>
            <a:ext cx="1691640" cy="128016"/>
          </a:xfrm>
          <a:prstGeom prst="rect">
            <a:avLst/>
          </a:prstGeom>
          <a:solidFill>
            <a:srgbClr val="1A3358"/>
          </a:solidFill>
          <a:ln cap="flat" cmpd="sng" w="12700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5"/>
          <p:cNvSpPr/>
          <p:nvPr/>
        </p:nvSpPr>
        <p:spPr>
          <a:xfrm>
            <a:off x="2834640" y="4242816"/>
            <a:ext cx="372161" cy="128016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4828032" y="3108960"/>
            <a:ext cx="4041648" cy="1572768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4956048" y="318211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8 EMOTION CLASSES (RAVDESS)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4956048" y="3456432"/>
            <a:ext cx="877824" cy="420624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4956048" y="3456432"/>
            <a:ext cx="877824" cy="109728"/>
          </a:xfrm>
          <a:prstGeom prst="rect">
            <a:avLst/>
          </a:prstGeom>
          <a:solidFill>
            <a:srgbClr val="8899AA"/>
          </a:solidFill>
          <a:ln cap="flat" cmpd="sng" w="12700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4956048" y="3602736"/>
            <a:ext cx="8778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5916168" y="3456432"/>
            <a:ext cx="877824" cy="420624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5916168" y="3456432"/>
            <a:ext cx="877824" cy="10972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5916168" y="3602736"/>
            <a:ext cx="8778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Calm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6876288" y="3456432"/>
            <a:ext cx="877824" cy="420624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5"/>
          <p:cNvSpPr/>
          <p:nvPr/>
        </p:nvSpPr>
        <p:spPr>
          <a:xfrm>
            <a:off x="6876288" y="3456432"/>
            <a:ext cx="877824" cy="10972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5"/>
          <p:cNvSpPr/>
          <p:nvPr/>
        </p:nvSpPr>
        <p:spPr>
          <a:xfrm>
            <a:off x="6876288" y="3602736"/>
            <a:ext cx="8778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Happy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7836408" y="3456432"/>
            <a:ext cx="877824" cy="420624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7836408" y="3456432"/>
            <a:ext cx="877824" cy="10972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7836408" y="3602736"/>
            <a:ext cx="8778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4956048" y="3968496"/>
            <a:ext cx="877824" cy="420624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4956048" y="3968496"/>
            <a:ext cx="877824" cy="10972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4956048" y="4114800"/>
            <a:ext cx="8778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Angry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5916168" y="3968496"/>
            <a:ext cx="877824" cy="420624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5916168" y="3968496"/>
            <a:ext cx="877824" cy="109728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5916168" y="4114800"/>
            <a:ext cx="8778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Fearful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6876288" y="3968496"/>
            <a:ext cx="877824" cy="420624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6876288" y="3968496"/>
            <a:ext cx="877824" cy="109728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6876288" y="4114800"/>
            <a:ext cx="8778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Disgust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7836408" y="3968496"/>
            <a:ext cx="877824" cy="420624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7836408" y="3968496"/>
            <a:ext cx="877824" cy="109728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7836408" y="4114800"/>
            <a:ext cx="8778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Surprised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"/>
          <p:cNvSpPr/>
          <p:nvPr/>
        </p:nvSpPr>
        <p:spPr>
          <a:xfrm>
            <a:off x="502920" y="7315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SIGNAL PROCESSING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Feature Engineering — 5-Type Acoustic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502920" y="896112"/>
            <a:ext cx="8138160" cy="2286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6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8102A"/>
          </a:solidFill>
          <a:ln cap="flat" cmpd="sng" w="12700">
            <a:solidFill>
              <a:srgbClr val="081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0" y="4882896"/>
            <a:ext cx="9144000" cy="16459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182880" y="489204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Team X  ·  IIT Jodhpur  ·  Speech Emotion Recognition  ·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502920" y="1051560"/>
            <a:ext cx="4160520" cy="109728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502920" y="1051560"/>
            <a:ext cx="128016" cy="109728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731520" y="11430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MFCC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731520" y="1380744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13 coefficients  ·  Branch: Bi-LSTM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731520" y="1581912"/>
            <a:ext cx="3840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Mel-Frequency Cepstral Coefficients — mimics human auditory perception, captures vocal tract shape and phonetic content. Primary sequential input to Bi-LSTM branch.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502920" y="2258568"/>
            <a:ext cx="4160520" cy="109728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6"/>
          <p:cNvSpPr/>
          <p:nvPr/>
        </p:nvSpPr>
        <p:spPr>
          <a:xfrm>
            <a:off x="502920" y="2258568"/>
            <a:ext cx="128016" cy="109728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"/>
          <p:cNvSpPr/>
          <p:nvPr/>
        </p:nvSpPr>
        <p:spPr>
          <a:xfrm>
            <a:off x="731520" y="235000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Mel-Spectrogram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731520" y="25877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128 dimensions  ·  Branch: CNN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731520" y="2788920"/>
            <a:ext cx="3840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Frequency content mapped to perceptual mel scale over time. Treated as 2D image and fed into CNN branch for spatial pattern extraction.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502920" y="3465576"/>
            <a:ext cx="4160520" cy="109728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502920" y="3465576"/>
            <a:ext cx="128016" cy="109728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"/>
          <p:cNvSpPr/>
          <p:nvPr/>
        </p:nvSpPr>
        <p:spPr>
          <a:xfrm>
            <a:off x="731520" y="3557016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Zero Crossing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731520" y="379476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Frame-level scalar  ·  Branch: Bi-LSTM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731520" y="3995928"/>
            <a:ext cx="3840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Rate of sign changes per frame — distinguishes voiced vs. unvoiced sounds and captures speech energy dynamics.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4828032" y="1051560"/>
            <a:ext cx="4041648" cy="109728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4828032" y="1051560"/>
            <a:ext cx="128016" cy="109728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5056632" y="1143000"/>
            <a:ext cx="37216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RMSE Energy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5056632" y="1380744"/>
            <a:ext cx="37216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Frame-level scalar  ·  Branch: Bi-LSTM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5056632" y="1581912"/>
            <a:ext cx="37216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Root Mean Square Energy — measures frame-level loudness and energy envelope, capturing intensity variations across emotional expressions.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4828032" y="2258568"/>
            <a:ext cx="4041648" cy="109728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"/>
          <p:cNvSpPr/>
          <p:nvPr/>
        </p:nvSpPr>
        <p:spPr>
          <a:xfrm>
            <a:off x="4828032" y="2258568"/>
            <a:ext cx="128016" cy="109728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5056632" y="2350008"/>
            <a:ext cx="37216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Chroma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5056632" y="2587752"/>
            <a:ext cx="37216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12 dimensions  ·  Branch: Bi-LSTM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5056632" y="2788920"/>
            <a:ext cx="37216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Pitch class profiles mapped to 12 semitones — captures harmonic and tonal structure correlated with emotional valence.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4828032" y="3465576"/>
            <a:ext cx="4041648" cy="1097280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4956048" y="353872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PRE-PROCESSING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4956048" y="3767328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① Load audio via librosa (sr=22050 Hz)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4956048" y="3922776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② Pad/truncate to fixed 2.5s length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4956048" y="4078224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③ Extract all 5 feature types per sample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4956048" y="4233672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④ Normalize: zero-mean, unit-variance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4956048" y="4389120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⑤ Batch into PyTorch tensors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000ebef38_0_0"/>
          <p:cNvSpPr/>
          <p:nvPr/>
        </p:nvSpPr>
        <p:spPr>
          <a:xfrm>
            <a:off x="502920" y="7315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e000ebef38_0_0"/>
          <p:cNvSpPr/>
          <p:nvPr/>
        </p:nvSpPr>
        <p:spPr>
          <a:xfrm>
            <a:off x="502920" y="347472"/>
            <a:ext cx="8138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Data FLow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e000ebef38_0_0"/>
          <p:cNvSpPr/>
          <p:nvPr/>
        </p:nvSpPr>
        <p:spPr>
          <a:xfrm>
            <a:off x="502920" y="896112"/>
            <a:ext cx="8138100" cy="228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e000ebef38_0_0"/>
          <p:cNvSpPr/>
          <p:nvPr/>
        </p:nvSpPr>
        <p:spPr>
          <a:xfrm>
            <a:off x="0" y="4882896"/>
            <a:ext cx="9144000" cy="260700"/>
          </a:xfrm>
          <a:prstGeom prst="rect">
            <a:avLst/>
          </a:prstGeom>
          <a:solidFill>
            <a:srgbClr val="08102A"/>
          </a:solidFill>
          <a:ln cap="flat" cmpd="sng" w="12700">
            <a:solidFill>
              <a:srgbClr val="081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e000ebef38_0_0"/>
          <p:cNvSpPr/>
          <p:nvPr/>
        </p:nvSpPr>
        <p:spPr>
          <a:xfrm>
            <a:off x="0" y="4882896"/>
            <a:ext cx="9144000" cy="16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e000ebef38_0_0"/>
          <p:cNvSpPr/>
          <p:nvPr/>
        </p:nvSpPr>
        <p:spPr>
          <a:xfrm>
            <a:off x="182880" y="489204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Team X  ·  IIT Jodhpur  ·  Speech Emotion Recognition  ·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g3e000ebef3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025" y="1071300"/>
            <a:ext cx="5088850" cy="365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7"/>
          <p:cNvSpPr/>
          <p:nvPr/>
        </p:nvSpPr>
        <p:spPr>
          <a:xfrm>
            <a:off x="502920" y="7315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DEEP LEARNING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CNN + Bi-LSTM Ensemble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502920" y="896112"/>
            <a:ext cx="8138160" cy="2286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7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8102A"/>
          </a:solidFill>
          <a:ln cap="flat" cmpd="sng" w="12700">
            <a:solidFill>
              <a:srgbClr val="081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7"/>
          <p:cNvSpPr/>
          <p:nvPr/>
        </p:nvSpPr>
        <p:spPr>
          <a:xfrm>
            <a:off x="0" y="4882896"/>
            <a:ext cx="9144000" cy="16459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7"/>
          <p:cNvSpPr/>
          <p:nvPr/>
        </p:nvSpPr>
        <p:spPr>
          <a:xfrm>
            <a:off x="182880" y="489204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Team X  ·  IIT Jodhpur  ·  Speech Emotion Recognition  ·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1463040" y="1024128"/>
            <a:ext cx="2377440" cy="347472"/>
          </a:xfrm>
          <a:prstGeom prst="rect">
            <a:avLst/>
          </a:prstGeom>
          <a:solidFill>
            <a:srgbClr val="1A3358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7"/>
          <p:cNvSpPr/>
          <p:nvPr/>
        </p:nvSpPr>
        <p:spPr>
          <a:xfrm>
            <a:off x="1463040" y="105156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Audio Input (WAV/MP3)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7"/>
          <p:cNvCxnSpPr/>
          <p:nvPr/>
        </p:nvCxnSpPr>
        <p:spPr>
          <a:xfrm>
            <a:off x="2651760" y="1371600"/>
            <a:ext cx="0" cy="201168"/>
          </a:xfrm>
          <a:prstGeom prst="straightConnector1">
            <a:avLst/>
          </a:prstGeom>
          <a:noFill/>
          <a:ln cap="flat" cmpd="sng" w="9525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7"/>
          <p:cNvCxnSpPr/>
          <p:nvPr/>
        </p:nvCxnSpPr>
        <p:spPr>
          <a:xfrm>
            <a:off x="1078992" y="1572768"/>
            <a:ext cx="3145536" cy="0"/>
          </a:xfrm>
          <a:prstGeom prst="straightConnector1">
            <a:avLst/>
          </a:prstGeom>
          <a:noFill/>
          <a:ln cap="flat" cmpd="sng" w="9525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7"/>
          <p:cNvCxnSpPr/>
          <p:nvPr/>
        </p:nvCxnSpPr>
        <p:spPr>
          <a:xfrm>
            <a:off x="1078992" y="1572768"/>
            <a:ext cx="0" cy="201168"/>
          </a:xfrm>
          <a:prstGeom prst="straightConnector1">
            <a:avLst/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7"/>
          <p:cNvCxnSpPr/>
          <p:nvPr/>
        </p:nvCxnSpPr>
        <p:spPr>
          <a:xfrm>
            <a:off x="4224528" y="1572768"/>
            <a:ext cx="0" cy="201168"/>
          </a:xfrm>
          <a:prstGeom prst="straightConnector1">
            <a:avLst/>
          </a:prstGeom>
          <a:noFill/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7"/>
          <p:cNvSpPr/>
          <p:nvPr/>
        </p:nvSpPr>
        <p:spPr>
          <a:xfrm>
            <a:off x="548640" y="1773936"/>
            <a:ext cx="1965960" cy="402336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7"/>
          <p:cNvSpPr/>
          <p:nvPr/>
        </p:nvSpPr>
        <p:spPr>
          <a:xfrm>
            <a:off x="594360" y="1847088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Mel-Spectrogram (128d)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7"/>
          <p:cNvCxnSpPr/>
          <p:nvPr/>
        </p:nvCxnSpPr>
        <p:spPr>
          <a:xfrm>
            <a:off x="1536192" y="2176272"/>
            <a:ext cx="0" cy="128016"/>
          </a:xfrm>
          <a:prstGeom prst="straightConnector1">
            <a:avLst/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7"/>
          <p:cNvSpPr/>
          <p:nvPr/>
        </p:nvSpPr>
        <p:spPr>
          <a:xfrm>
            <a:off x="548640" y="2304288"/>
            <a:ext cx="1965960" cy="402336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7"/>
          <p:cNvSpPr/>
          <p:nvPr/>
        </p:nvSpPr>
        <p:spPr>
          <a:xfrm>
            <a:off x="594360" y="237744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Conv2D + ReLU + MaxPool ×3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7"/>
          <p:cNvCxnSpPr/>
          <p:nvPr/>
        </p:nvCxnSpPr>
        <p:spPr>
          <a:xfrm>
            <a:off x="1536192" y="2706624"/>
            <a:ext cx="0" cy="128016"/>
          </a:xfrm>
          <a:prstGeom prst="straightConnector1">
            <a:avLst/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7"/>
          <p:cNvSpPr/>
          <p:nvPr/>
        </p:nvSpPr>
        <p:spPr>
          <a:xfrm>
            <a:off x="548640" y="2834640"/>
            <a:ext cx="1965960" cy="402336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7"/>
          <p:cNvSpPr/>
          <p:nvPr/>
        </p:nvSpPr>
        <p:spPr>
          <a:xfrm>
            <a:off x="594360" y="2907792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Flatten → FC(256)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548640" y="3401568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CNN Branch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3337560" y="1773936"/>
            <a:ext cx="1965960" cy="402336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7"/>
          <p:cNvSpPr/>
          <p:nvPr/>
        </p:nvSpPr>
        <p:spPr>
          <a:xfrm>
            <a:off x="3383280" y="1847088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MFCC + ZCR + RMSE + Chroma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7"/>
          <p:cNvCxnSpPr/>
          <p:nvPr/>
        </p:nvCxnSpPr>
        <p:spPr>
          <a:xfrm>
            <a:off x="4315968" y="2176272"/>
            <a:ext cx="0" cy="128016"/>
          </a:xfrm>
          <a:prstGeom prst="straightConnector1">
            <a:avLst/>
          </a:prstGeom>
          <a:noFill/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7"/>
          <p:cNvSpPr/>
          <p:nvPr/>
        </p:nvSpPr>
        <p:spPr>
          <a:xfrm>
            <a:off x="3337560" y="2304288"/>
            <a:ext cx="1965960" cy="402336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7"/>
          <p:cNvSpPr/>
          <p:nvPr/>
        </p:nvSpPr>
        <p:spPr>
          <a:xfrm>
            <a:off x="3383280" y="237744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BiLSTM Layer 1 — 128 units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7"/>
          <p:cNvCxnSpPr/>
          <p:nvPr/>
        </p:nvCxnSpPr>
        <p:spPr>
          <a:xfrm>
            <a:off x="4315968" y="2706624"/>
            <a:ext cx="0" cy="128016"/>
          </a:xfrm>
          <a:prstGeom prst="straightConnector1">
            <a:avLst/>
          </a:prstGeom>
          <a:noFill/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7"/>
          <p:cNvSpPr/>
          <p:nvPr/>
        </p:nvSpPr>
        <p:spPr>
          <a:xfrm>
            <a:off x="3337560" y="2834640"/>
            <a:ext cx="1965960" cy="402336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7"/>
          <p:cNvSpPr/>
          <p:nvPr/>
        </p:nvSpPr>
        <p:spPr>
          <a:xfrm>
            <a:off x="3383280" y="2907792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BiLSTM Layer 2 — 64 units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3337560" y="3401568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Bi-LSTM Branch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7"/>
          <p:cNvCxnSpPr/>
          <p:nvPr/>
        </p:nvCxnSpPr>
        <p:spPr>
          <a:xfrm>
            <a:off x="1536192" y="3401568"/>
            <a:ext cx="0" cy="201168"/>
          </a:xfrm>
          <a:prstGeom prst="straightConnector1">
            <a:avLst/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7"/>
          <p:cNvCxnSpPr/>
          <p:nvPr/>
        </p:nvCxnSpPr>
        <p:spPr>
          <a:xfrm>
            <a:off x="4315968" y="3401568"/>
            <a:ext cx="0" cy="201168"/>
          </a:xfrm>
          <a:prstGeom prst="straightConnector1">
            <a:avLst/>
          </a:prstGeom>
          <a:noFill/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7"/>
          <p:cNvCxnSpPr/>
          <p:nvPr/>
        </p:nvCxnSpPr>
        <p:spPr>
          <a:xfrm>
            <a:off x="1536192" y="3602736"/>
            <a:ext cx="2779776" cy="0"/>
          </a:xfrm>
          <a:prstGeom prst="straightConnector1">
            <a:avLst/>
          </a:prstGeom>
          <a:noFill/>
          <a:ln cap="flat" cmpd="sng" w="9525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7"/>
          <p:cNvCxnSpPr/>
          <p:nvPr/>
        </p:nvCxnSpPr>
        <p:spPr>
          <a:xfrm>
            <a:off x="2926080" y="3602736"/>
            <a:ext cx="0" cy="201168"/>
          </a:xfrm>
          <a:prstGeom prst="straightConnector1">
            <a:avLst/>
          </a:prstGeom>
          <a:noFill/>
          <a:ln cap="flat" cmpd="sng" w="95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7"/>
          <p:cNvSpPr/>
          <p:nvPr/>
        </p:nvSpPr>
        <p:spPr>
          <a:xfrm>
            <a:off x="1737360" y="3803904"/>
            <a:ext cx="2377440" cy="256032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7"/>
          <p:cNvSpPr/>
          <p:nvPr/>
        </p:nvSpPr>
        <p:spPr>
          <a:xfrm>
            <a:off x="1783080" y="3849624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Concatenate → FC(256) + Dropout(0.5)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7"/>
          <p:cNvCxnSpPr/>
          <p:nvPr/>
        </p:nvCxnSpPr>
        <p:spPr>
          <a:xfrm>
            <a:off x="2926080" y="4059936"/>
            <a:ext cx="0" cy="45720"/>
          </a:xfrm>
          <a:prstGeom prst="straightConnector1">
            <a:avLst/>
          </a:prstGeom>
          <a:noFill/>
          <a:ln cap="flat" cmpd="sng" w="95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7"/>
          <p:cNvSpPr/>
          <p:nvPr/>
        </p:nvSpPr>
        <p:spPr>
          <a:xfrm>
            <a:off x="1737360" y="4105656"/>
            <a:ext cx="2377440" cy="256032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1783080" y="4151376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FC(128) + Dropout(0.5)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7"/>
          <p:cNvCxnSpPr/>
          <p:nvPr/>
        </p:nvCxnSpPr>
        <p:spPr>
          <a:xfrm>
            <a:off x="2926080" y="4361688"/>
            <a:ext cx="0" cy="45720"/>
          </a:xfrm>
          <a:prstGeom prst="straightConnector1">
            <a:avLst/>
          </a:prstGeom>
          <a:noFill/>
          <a:ln cap="flat" cmpd="sng" w="95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7"/>
          <p:cNvSpPr/>
          <p:nvPr/>
        </p:nvSpPr>
        <p:spPr>
          <a:xfrm>
            <a:off x="1737360" y="4407408"/>
            <a:ext cx="2377440" cy="256032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7"/>
          <p:cNvSpPr/>
          <p:nvPr/>
        </p:nvSpPr>
        <p:spPr>
          <a:xfrm>
            <a:off x="1783080" y="4453128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Softmax — 8 Classes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5577840" y="1005840"/>
            <a:ext cx="3291840" cy="3749040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7"/>
          <p:cNvSpPr/>
          <p:nvPr/>
        </p:nvSpPr>
        <p:spPr>
          <a:xfrm>
            <a:off x="5669280" y="107899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HYPERPARAMETERS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5623560" y="1389888"/>
            <a:ext cx="3200400" cy="29260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7"/>
          <p:cNvSpPr/>
          <p:nvPr/>
        </p:nvSpPr>
        <p:spPr>
          <a:xfrm>
            <a:off x="5715000" y="14447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Optimizer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7269480" y="144475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Adam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5623560" y="1719072"/>
            <a:ext cx="3200400" cy="292608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7"/>
          <p:cNvSpPr/>
          <p:nvPr/>
        </p:nvSpPr>
        <p:spPr>
          <a:xfrm>
            <a:off x="5715000" y="1773936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Learning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7269480" y="1773936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0.001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5623560" y="2048256"/>
            <a:ext cx="3200400" cy="29260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7"/>
          <p:cNvSpPr/>
          <p:nvPr/>
        </p:nvSpPr>
        <p:spPr>
          <a:xfrm>
            <a:off x="5715000" y="210312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Batch 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7269480" y="21031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5623560" y="2377440"/>
            <a:ext cx="3200400" cy="292608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7"/>
          <p:cNvSpPr/>
          <p:nvPr/>
        </p:nvSpPr>
        <p:spPr>
          <a:xfrm>
            <a:off x="5715000" y="243230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Dropout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7269480" y="2432304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5623560" y="2706624"/>
            <a:ext cx="3200400" cy="29260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7"/>
          <p:cNvSpPr/>
          <p:nvPr/>
        </p:nvSpPr>
        <p:spPr>
          <a:xfrm>
            <a:off x="5715000" y="276148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Weight Decay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7269480" y="2761488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0.0001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5623560" y="3035808"/>
            <a:ext cx="3200400" cy="292608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7"/>
          <p:cNvSpPr/>
          <p:nvPr/>
        </p:nvSpPr>
        <p:spPr>
          <a:xfrm>
            <a:off x="5715000" y="309067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LR Scheduler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7269480" y="309067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ReduceLROnPlateau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5623560" y="3364992"/>
            <a:ext cx="3200400" cy="29260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7"/>
          <p:cNvSpPr/>
          <p:nvPr/>
        </p:nvSpPr>
        <p:spPr>
          <a:xfrm>
            <a:off x="5715000" y="3419856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Early Stopping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7269480" y="3419856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Patience =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5623560" y="3694176"/>
            <a:ext cx="3200400" cy="292608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7"/>
          <p:cNvSpPr/>
          <p:nvPr/>
        </p:nvSpPr>
        <p:spPr>
          <a:xfrm>
            <a:off x="5715000" y="374904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Train/Val 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7269480" y="374904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66% / 34%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5623560" y="4023360"/>
            <a:ext cx="3200400" cy="29260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7"/>
          <p:cNvSpPr/>
          <p:nvPr/>
        </p:nvSpPr>
        <p:spPr>
          <a:xfrm>
            <a:off x="5715000" y="407822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Epochs Trained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7269480" y="4078224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53 (early stopped)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5623560" y="4352544"/>
            <a:ext cx="3200400" cy="292608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7"/>
          <p:cNvSpPr/>
          <p:nvPr/>
        </p:nvSpPr>
        <p:spPr>
          <a:xfrm>
            <a:off x="5715000" y="440740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7269480" y="4407408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CPU-only (no GPU)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"/>
          <p:cNvSpPr/>
          <p:nvPr/>
        </p:nvSpPr>
        <p:spPr>
          <a:xfrm>
            <a:off x="502920" y="7315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EXPERIMENTATION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Cambria"/>
              <a:buNone/>
            </a:pPr>
            <a:r>
              <a:rPr b="1" i="0" lang="en-US" sz="29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Training Process — 53 Epochs, 4 Experiments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502920" y="896112"/>
            <a:ext cx="8138160" cy="2286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8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8102A"/>
          </a:solidFill>
          <a:ln cap="flat" cmpd="sng" w="12700">
            <a:solidFill>
              <a:srgbClr val="081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8"/>
          <p:cNvSpPr/>
          <p:nvPr/>
        </p:nvSpPr>
        <p:spPr>
          <a:xfrm>
            <a:off x="0" y="4882896"/>
            <a:ext cx="9144000" cy="16459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8"/>
          <p:cNvSpPr/>
          <p:nvPr/>
        </p:nvSpPr>
        <p:spPr>
          <a:xfrm>
            <a:off x="182880" y="489204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Team X  ·  IIT Jodhpur  ·  Speech Emotion Recognition  ·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502920" y="1024128"/>
            <a:ext cx="4160520" cy="73152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8"/>
          <p:cNvSpPr/>
          <p:nvPr/>
        </p:nvSpPr>
        <p:spPr>
          <a:xfrm>
            <a:off x="502920" y="1024128"/>
            <a:ext cx="594360" cy="7315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8"/>
          <p:cNvSpPr/>
          <p:nvPr/>
        </p:nvSpPr>
        <p:spPr>
          <a:xfrm>
            <a:off x="502920" y="1225296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8"/>
          <p:cNvSpPr/>
          <p:nvPr/>
        </p:nvSpPr>
        <p:spPr>
          <a:xfrm>
            <a:off x="1170432" y="107899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FAILED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8"/>
          <p:cNvSpPr/>
          <p:nvPr/>
        </p:nvSpPr>
        <p:spPr>
          <a:xfrm>
            <a:off x="1170432" y="126187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lr=0.01 · batch=32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1170432" y="148132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Loss diverged — unstable gradients, NaN values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502920" y="1865376"/>
            <a:ext cx="4160520" cy="73152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8"/>
          <p:cNvSpPr/>
          <p:nvPr/>
        </p:nvSpPr>
        <p:spPr>
          <a:xfrm>
            <a:off x="502920" y="1865376"/>
            <a:ext cx="594360" cy="73152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8"/>
          <p:cNvSpPr/>
          <p:nvPr/>
        </p:nvSpPr>
        <p:spPr>
          <a:xfrm>
            <a:off x="502920" y="2066544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8"/>
          <p:cNvSpPr/>
          <p:nvPr/>
        </p:nvSpPr>
        <p:spPr>
          <a:xfrm>
            <a:off x="1170432" y="192024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8"/>
          <p:cNvSpPr/>
          <p:nvPr/>
        </p:nvSpPr>
        <p:spPr>
          <a:xfrm>
            <a:off x="1170432" y="210312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lr=0.001 · batch=32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8"/>
          <p:cNvSpPr/>
          <p:nvPr/>
        </p:nvSpPr>
        <p:spPr>
          <a:xfrm>
            <a:off x="1170432" y="232257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Slow convergence — model learning but significantly underfit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502920" y="2706624"/>
            <a:ext cx="4160520" cy="73152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8"/>
          <p:cNvSpPr/>
          <p:nvPr/>
        </p:nvSpPr>
        <p:spPr>
          <a:xfrm>
            <a:off x="502920" y="2706624"/>
            <a:ext cx="594360" cy="7315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8"/>
          <p:cNvSpPr/>
          <p:nvPr/>
        </p:nvSpPr>
        <p:spPr>
          <a:xfrm>
            <a:off x="502920" y="2907792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8"/>
          <p:cNvSpPr/>
          <p:nvPr/>
        </p:nvSpPr>
        <p:spPr>
          <a:xfrm>
            <a:off x="1170432" y="276148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FAILED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8"/>
          <p:cNvSpPr/>
          <p:nvPr/>
        </p:nvSpPr>
        <p:spPr>
          <a:xfrm>
            <a:off x="1170432" y="294436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lr=0.0001 · batch=16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8"/>
          <p:cNvSpPr/>
          <p:nvPr/>
        </p:nvSpPr>
        <p:spPr>
          <a:xfrm>
            <a:off x="1170432" y="3163824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Underfitting — too slow, wasted 4+ CPU hours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8"/>
          <p:cNvSpPr/>
          <p:nvPr/>
        </p:nvSpPr>
        <p:spPr>
          <a:xfrm>
            <a:off x="502920" y="3547872"/>
            <a:ext cx="4160520" cy="73152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8"/>
          <p:cNvSpPr/>
          <p:nvPr/>
        </p:nvSpPr>
        <p:spPr>
          <a:xfrm>
            <a:off x="502920" y="3547872"/>
            <a:ext cx="594360" cy="73152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8"/>
          <p:cNvSpPr/>
          <p:nvPr/>
        </p:nvSpPr>
        <p:spPr>
          <a:xfrm>
            <a:off x="502920" y="3749040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8"/>
          <p:cNvSpPr/>
          <p:nvPr/>
        </p:nvSpPr>
        <p:spPr>
          <a:xfrm>
            <a:off x="1170432" y="360273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1170432" y="378561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lr=0.001 · batch=16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8"/>
          <p:cNvSpPr/>
          <p:nvPr/>
        </p:nvSpPr>
        <p:spPr>
          <a:xfrm>
            <a:off x="1170432" y="400507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Best result: 75.10% val acc · 53 epochs · early stopped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6" name="Google Shape;436;p8"/>
          <p:cNvGraphicFramePr/>
          <p:nvPr/>
        </p:nvGraphicFramePr>
        <p:xfrm>
          <a:off x="4754880" y="960120"/>
          <a:ext cx="4114800" cy="27432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37" name="Google Shape;437;p8"/>
          <p:cNvSpPr/>
          <p:nvPr/>
        </p:nvSpPr>
        <p:spPr>
          <a:xfrm>
            <a:off x="4754880" y="3840480"/>
            <a:ext cx="950976" cy="804672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8"/>
          <p:cNvSpPr/>
          <p:nvPr/>
        </p:nvSpPr>
        <p:spPr>
          <a:xfrm>
            <a:off x="4754880" y="3950208"/>
            <a:ext cx="950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53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8"/>
          <p:cNvSpPr/>
          <p:nvPr/>
        </p:nvSpPr>
        <p:spPr>
          <a:xfrm>
            <a:off x="4754880" y="4352544"/>
            <a:ext cx="950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Epochs (early stop)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8"/>
          <p:cNvSpPr/>
          <p:nvPr/>
        </p:nvSpPr>
        <p:spPr>
          <a:xfrm>
            <a:off x="5779008" y="3840480"/>
            <a:ext cx="950976" cy="804672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8"/>
          <p:cNvSpPr/>
          <p:nvPr/>
        </p:nvSpPr>
        <p:spPr>
          <a:xfrm>
            <a:off x="5779008" y="3950208"/>
            <a:ext cx="950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34m 39s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8"/>
          <p:cNvSpPr/>
          <p:nvPr/>
        </p:nvSpPr>
        <p:spPr>
          <a:xfrm>
            <a:off x="5779008" y="4352544"/>
            <a:ext cx="950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Total Train 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6803136" y="3840480"/>
            <a:ext cx="950976" cy="804672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8"/>
          <p:cNvSpPr/>
          <p:nvPr/>
        </p:nvSpPr>
        <p:spPr>
          <a:xfrm>
            <a:off x="6803136" y="3950208"/>
            <a:ext cx="950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0.8398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6803136" y="4352544"/>
            <a:ext cx="950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Best Val Loss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7827264" y="3840480"/>
            <a:ext cx="950976" cy="804672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8"/>
          <p:cNvSpPr/>
          <p:nvPr/>
        </p:nvSpPr>
        <p:spPr>
          <a:xfrm>
            <a:off x="7827264" y="3950208"/>
            <a:ext cx="950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0.2579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8"/>
          <p:cNvSpPr/>
          <p:nvPr/>
        </p:nvSpPr>
        <p:spPr>
          <a:xfrm>
            <a:off x="7827264" y="4352544"/>
            <a:ext cx="950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Final Train Loss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9"/>
          <p:cNvSpPr/>
          <p:nvPr/>
        </p:nvSpPr>
        <p:spPr>
          <a:xfrm>
            <a:off x="502920" y="7315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Results &amp; Evaluation — RAVDESS Test Set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9"/>
          <p:cNvSpPr/>
          <p:nvPr/>
        </p:nvSpPr>
        <p:spPr>
          <a:xfrm>
            <a:off x="502920" y="896112"/>
            <a:ext cx="8138160" cy="2286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8102A"/>
          </a:solidFill>
          <a:ln cap="flat" cmpd="sng" w="12700">
            <a:solidFill>
              <a:srgbClr val="081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>
            <a:off x="0" y="4882896"/>
            <a:ext cx="9144000" cy="16459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>
            <a:off x="182880" y="489204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Team X  ·  IIT Jodhpur  ·  Speech Emotion Recognition  ·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502920" y="1005840"/>
            <a:ext cx="1920240" cy="822960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>
            <a:off x="502920" y="11155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75.10%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9"/>
          <p:cNvSpPr/>
          <p:nvPr/>
        </p:nvSpPr>
        <p:spPr>
          <a:xfrm>
            <a:off x="502920" y="1517904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Val Accuracy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2560320" y="1005840"/>
            <a:ext cx="1920240" cy="822960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9"/>
          <p:cNvSpPr/>
          <p:nvPr/>
        </p:nvSpPr>
        <p:spPr>
          <a:xfrm>
            <a:off x="2560320" y="11155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2C55E"/>
                </a:solidFill>
                <a:latin typeface="Cambria"/>
                <a:ea typeface="Cambria"/>
                <a:cs typeface="Cambria"/>
                <a:sym typeface="Cambria"/>
              </a:rPr>
              <a:t>89.67%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9"/>
          <p:cNvSpPr/>
          <p:nvPr/>
        </p:nvSpPr>
        <p:spPr>
          <a:xfrm>
            <a:off x="2560320" y="1517904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9"/>
          <p:cNvSpPr/>
          <p:nvPr/>
        </p:nvSpPr>
        <p:spPr>
          <a:xfrm>
            <a:off x="4617720" y="1005840"/>
            <a:ext cx="1920240" cy="822960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9"/>
          <p:cNvSpPr/>
          <p:nvPr/>
        </p:nvSpPr>
        <p:spPr>
          <a:xfrm>
            <a:off x="4617720" y="11155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Cambria"/>
                <a:ea typeface="Cambria"/>
                <a:cs typeface="Cambria"/>
                <a:sym typeface="Cambria"/>
              </a:rPr>
              <a:t>0.8955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9"/>
          <p:cNvSpPr/>
          <p:nvPr/>
        </p:nvSpPr>
        <p:spPr>
          <a:xfrm>
            <a:off x="4617720" y="1517904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F1 Score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9"/>
          <p:cNvSpPr/>
          <p:nvPr/>
        </p:nvSpPr>
        <p:spPr>
          <a:xfrm>
            <a:off x="6675120" y="1005840"/>
            <a:ext cx="1920240" cy="822960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9"/>
          <p:cNvSpPr/>
          <p:nvPr/>
        </p:nvSpPr>
        <p:spPr>
          <a:xfrm>
            <a:off x="6675120" y="11155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A855F7"/>
                </a:solidFill>
                <a:latin typeface="Cambria"/>
                <a:ea typeface="Cambria"/>
                <a:cs typeface="Cambria"/>
                <a:sym typeface="Cambria"/>
              </a:rPr>
              <a:t>0.9913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9"/>
          <p:cNvSpPr/>
          <p:nvPr/>
        </p:nvSpPr>
        <p:spPr>
          <a:xfrm>
            <a:off x="6675120" y="1517904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2" name="Google Shape;472;p9"/>
          <p:cNvGraphicFramePr/>
          <p:nvPr/>
        </p:nvGraphicFramePr>
        <p:xfrm>
          <a:off x="502920" y="1920240"/>
          <a:ext cx="5029200" cy="26974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73" name="Google Shape;473;p9"/>
          <p:cNvSpPr/>
          <p:nvPr/>
        </p:nvSpPr>
        <p:spPr>
          <a:xfrm>
            <a:off x="5806440" y="1920240"/>
            <a:ext cx="3063240" cy="2697480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9"/>
          <p:cNvSpPr/>
          <p:nvPr/>
        </p:nvSpPr>
        <p:spPr>
          <a:xfrm>
            <a:off x="5943600" y="199339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DETAILED METRICS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9"/>
          <p:cNvSpPr/>
          <p:nvPr/>
        </p:nvSpPr>
        <p:spPr>
          <a:xfrm>
            <a:off x="5852160" y="2286000"/>
            <a:ext cx="2971800" cy="219456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9"/>
          <p:cNvSpPr/>
          <p:nvPr/>
        </p:nvSpPr>
        <p:spPr>
          <a:xfrm>
            <a:off x="5943600" y="2322576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Test Samples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9"/>
          <p:cNvSpPr/>
          <p:nvPr/>
        </p:nvSpPr>
        <p:spPr>
          <a:xfrm>
            <a:off x="7406640" y="2322576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300 (Actors 20–24)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9"/>
          <p:cNvSpPr/>
          <p:nvPr/>
        </p:nvSpPr>
        <p:spPr>
          <a:xfrm>
            <a:off x="5852160" y="2542032"/>
            <a:ext cx="2971800" cy="219456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9"/>
          <p:cNvSpPr/>
          <p:nvPr/>
        </p:nvSpPr>
        <p:spPr>
          <a:xfrm>
            <a:off x="5943600" y="2578608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9"/>
          <p:cNvSpPr/>
          <p:nvPr/>
        </p:nvSpPr>
        <p:spPr>
          <a:xfrm>
            <a:off x="7406640" y="25786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0.8962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9"/>
          <p:cNvSpPr/>
          <p:nvPr/>
        </p:nvSpPr>
        <p:spPr>
          <a:xfrm>
            <a:off x="5852160" y="2798064"/>
            <a:ext cx="2971800" cy="219456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9"/>
          <p:cNvSpPr/>
          <p:nvPr/>
        </p:nvSpPr>
        <p:spPr>
          <a:xfrm>
            <a:off x="5943600" y="283464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9"/>
          <p:cNvSpPr/>
          <p:nvPr/>
        </p:nvSpPr>
        <p:spPr>
          <a:xfrm>
            <a:off x="7406640" y="283464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0.8967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9"/>
          <p:cNvSpPr/>
          <p:nvPr/>
        </p:nvSpPr>
        <p:spPr>
          <a:xfrm>
            <a:off x="5852160" y="3054096"/>
            <a:ext cx="2971800" cy="219456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9"/>
          <p:cNvSpPr/>
          <p:nvPr/>
        </p:nvSpPr>
        <p:spPr>
          <a:xfrm>
            <a:off x="5943600" y="309067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9"/>
          <p:cNvSpPr/>
          <p:nvPr/>
        </p:nvSpPr>
        <p:spPr>
          <a:xfrm>
            <a:off x="7406640" y="3090672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0.8955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9"/>
          <p:cNvSpPr/>
          <p:nvPr/>
        </p:nvSpPr>
        <p:spPr>
          <a:xfrm>
            <a:off x="5852160" y="3310128"/>
            <a:ext cx="2971800" cy="219456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9"/>
          <p:cNvSpPr/>
          <p:nvPr/>
        </p:nvSpPr>
        <p:spPr>
          <a:xfrm>
            <a:off x="5943600" y="3346704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9"/>
          <p:cNvSpPr/>
          <p:nvPr/>
        </p:nvSpPr>
        <p:spPr>
          <a:xfrm>
            <a:off x="7406640" y="3346704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0.9913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9"/>
          <p:cNvSpPr/>
          <p:nvPr/>
        </p:nvSpPr>
        <p:spPr>
          <a:xfrm>
            <a:off x="5852160" y="3566160"/>
            <a:ext cx="2971800" cy="219456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9"/>
          <p:cNvSpPr/>
          <p:nvPr/>
        </p:nvSpPr>
        <p:spPr>
          <a:xfrm>
            <a:off x="5943600" y="3602736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Inference Latency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9"/>
          <p:cNvSpPr/>
          <p:nvPr/>
        </p:nvSpPr>
        <p:spPr>
          <a:xfrm>
            <a:off x="7406640" y="3602736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5.85 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9"/>
          <p:cNvSpPr/>
          <p:nvPr/>
        </p:nvSpPr>
        <p:spPr>
          <a:xfrm>
            <a:off x="5852160" y="3822192"/>
            <a:ext cx="2971800" cy="219456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9"/>
          <p:cNvSpPr/>
          <p:nvPr/>
        </p:nvSpPr>
        <p:spPr>
          <a:xfrm>
            <a:off x="5943600" y="3858768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Model Size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9"/>
          <p:cNvSpPr/>
          <p:nvPr/>
        </p:nvSpPr>
        <p:spPr>
          <a:xfrm>
            <a:off x="7406640" y="385876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50 MB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9"/>
          <p:cNvSpPr/>
          <p:nvPr/>
        </p:nvSpPr>
        <p:spPr>
          <a:xfrm>
            <a:off x="5852160" y="4078224"/>
            <a:ext cx="2971800" cy="219456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9"/>
          <p:cNvSpPr/>
          <p:nvPr/>
        </p:nvSpPr>
        <p:spPr>
          <a:xfrm>
            <a:off x="5943600" y="411480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Best Emotion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9"/>
          <p:cNvSpPr/>
          <p:nvPr/>
        </p:nvSpPr>
        <p:spPr>
          <a:xfrm>
            <a:off x="7406640" y="411480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Surprised (100%)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9"/>
          <p:cNvSpPr/>
          <p:nvPr/>
        </p:nvSpPr>
        <p:spPr>
          <a:xfrm>
            <a:off x="5852160" y="4334256"/>
            <a:ext cx="2971800" cy="219456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1A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9"/>
          <p:cNvSpPr/>
          <p:nvPr/>
        </p:nvSpPr>
        <p:spPr>
          <a:xfrm>
            <a:off x="5943600" y="437083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Hardest Emotion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9"/>
          <p:cNvSpPr/>
          <p:nvPr/>
        </p:nvSpPr>
        <p:spPr>
          <a:xfrm>
            <a:off x="7406640" y="4370832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Happy ↔ Sad confusion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502920" y="4636008"/>
            <a:ext cx="8366760" cy="182880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9"/>
          <p:cNvSpPr/>
          <p:nvPr/>
        </p:nvSpPr>
        <p:spPr>
          <a:xfrm>
            <a:off x="502920" y="4636008"/>
            <a:ext cx="54864" cy="18288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9"/>
          <p:cNvSpPr/>
          <p:nvPr/>
        </p:nvSpPr>
        <p:spPr>
          <a:xfrm>
            <a:off x="658368" y="4645152"/>
            <a:ext cx="81381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KEY FINDING:  Strong diagonal dominance in confusion matrix confirms model correctly differentiates all 8 emotion classes. Surprised achieved perfect 100% accuracy.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0"/>
          <p:cNvSpPr/>
          <p:nvPr/>
        </p:nvSpPr>
        <p:spPr>
          <a:xfrm>
            <a:off x="502920" y="7315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GENERALIZATION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Cambria"/>
              <a:buNone/>
            </a:pPr>
            <a:r>
              <a:rPr b="1" i="0" lang="en-US" sz="24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Cross-Dataset Evaluation — Domain Mismatch Analysis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0"/>
          <p:cNvSpPr/>
          <p:nvPr/>
        </p:nvSpPr>
        <p:spPr>
          <a:xfrm>
            <a:off x="502920" y="896112"/>
            <a:ext cx="8138160" cy="2286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8102A"/>
          </a:solidFill>
          <a:ln cap="flat" cmpd="sng" w="12700">
            <a:solidFill>
              <a:srgbClr val="081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0"/>
          <p:cNvSpPr/>
          <p:nvPr/>
        </p:nvSpPr>
        <p:spPr>
          <a:xfrm>
            <a:off x="0" y="4882896"/>
            <a:ext cx="9144000" cy="16459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0"/>
          <p:cNvSpPr/>
          <p:nvPr/>
        </p:nvSpPr>
        <p:spPr>
          <a:xfrm>
            <a:off x="182880" y="489204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Team X  ·  IIT Jodhpur  ·  Speech Emotion Recognition  ·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6" name="Google Shape;516;p10"/>
          <p:cNvGraphicFramePr/>
          <p:nvPr/>
        </p:nvGraphicFramePr>
        <p:xfrm>
          <a:off x="502920" y="1005840"/>
          <a:ext cx="4572000" cy="29260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17" name="Google Shape;517;p10"/>
          <p:cNvSpPr/>
          <p:nvPr/>
        </p:nvSpPr>
        <p:spPr>
          <a:xfrm>
            <a:off x="502920" y="4005072"/>
            <a:ext cx="1463040" cy="731520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0"/>
          <p:cNvSpPr/>
          <p:nvPr/>
        </p:nvSpPr>
        <p:spPr>
          <a:xfrm>
            <a:off x="502920" y="411480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2C55E"/>
                </a:solidFill>
                <a:latin typeface="Cambria"/>
                <a:ea typeface="Cambria"/>
                <a:cs typeface="Cambria"/>
                <a:sym typeface="Cambria"/>
              </a:rPr>
              <a:t>89.67%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0"/>
          <p:cNvSpPr/>
          <p:nvPr/>
        </p:nvSpPr>
        <p:spPr>
          <a:xfrm>
            <a:off x="502920" y="4517136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RAVDESS Test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0"/>
          <p:cNvSpPr/>
          <p:nvPr/>
        </p:nvSpPr>
        <p:spPr>
          <a:xfrm>
            <a:off x="2029968" y="4005072"/>
            <a:ext cx="1463040" cy="731520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0"/>
          <p:cNvSpPr/>
          <p:nvPr/>
        </p:nvSpPr>
        <p:spPr>
          <a:xfrm>
            <a:off x="2029968" y="411480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22%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0"/>
          <p:cNvSpPr/>
          <p:nvPr/>
        </p:nvSpPr>
        <p:spPr>
          <a:xfrm>
            <a:off x="2029968" y="4517136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TESS Cross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0"/>
          <p:cNvSpPr/>
          <p:nvPr/>
        </p:nvSpPr>
        <p:spPr>
          <a:xfrm>
            <a:off x="3557016" y="4005072"/>
            <a:ext cx="1463040" cy="731520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0"/>
          <p:cNvSpPr/>
          <p:nvPr/>
        </p:nvSpPr>
        <p:spPr>
          <a:xfrm>
            <a:off x="3557016" y="411480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F4444"/>
                </a:solidFill>
                <a:latin typeface="Cambria"/>
                <a:ea typeface="Cambria"/>
                <a:cs typeface="Cambria"/>
                <a:sym typeface="Cambria"/>
              </a:rPr>
              <a:t>16.34%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3557016" y="4517136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CREMA-D Cross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0"/>
          <p:cNvSpPr/>
          <p:nvPr/>
        </p:nvSpPr>
        <p:spPr>
          <a:xfrm>
            <a:off x="5349240" y="1005840"/>
            <a:ext cx="3520440" cy="3730752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0"/>
          <p:cNvSpPr/>
          <p:nvPr/>
        </p:nvSpPr>
        <p:spPr>
          <a:xfrm>
            <a:off x="5486400" y="107899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WHY THE CROSS-DATASET GAP?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0"/>
          <p:cNvSpPr/>
          <p:nvPr/>
        </p:nvSpPr>
        <p:spPr>
          <a:xfrm>
            <a:off x="5394960" y="1389888"/>
            <a:ext cx="73152" cy="6858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0"/>
          <p:cNvSpPr/>
          <p:nvPr/>
        </p:nvSpPr>
        <p:spPr>
          <a:xfrm>
            <a:off x="5559552" y="1426464"/>
            <a:ext cx="32186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Acting Style Mismatch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0"/>
          <p:cNvSpPr/>
          <p:nvPr/>
        </p:nvSpPr>
        <p:spPr>
          <a:xfrm>
            <a:off x="5559552" y="1645920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RAVDESS uses professional scripted studio actors. CREMA-D uses crowd-sourced actors with completely different expression styles — emotions sound fundamentally different.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5394960" y="2194560"/>
            <a:ext cx="73152" cy="6858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0"/>
          <p:cNvSpPr/>
          <p:nvPr/>
        </p:nvSpPr>
        <p:spPr>
          <a:xfrm>
            <a:off x="5559552" y="2231136"/>
            <a:ext cx="32186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Recording Conditions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0"/>
          <p:cNvSpPr/>
          <p:nvPr/>
        </p:nvSpPr>
        <p:spPr>
          <a:xfrm>
            <a:off x="5559552" y="2450592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RAVDESS: anechoic studio conditions. CREMA-D: varied environments, different microphones, acoustic conditions, and background noise levels.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0"/>
          <p:cNvSpPr/>
          <p:nvPr/>
        </p:nvSpPr>
        <p:spPr>
          <a:xfrm>
            <a:off x="5394960" y="2999232"/>
            <a:ext cx="73152" cy="68580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0"/>
          <p:cNvSpPr/>
          <p:nvPr/>
        </p:nvSpPr>
        <p:spPr>
          <a:xfrm>
            <a:off x="5559552" y="3035808"/>
            <a:ext cx="32186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Speaker Demographics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0"/>
          <p:cNvSpPr/>
          <p:nvPr/>
        </p:nvSpPr>
        <p:spPr>
          <a:xfrm>
            <a:off x="5559552" y="3255264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RAVDESS: 24 actors, balanced gender. CREMA-D: 91 actors with diverse age, ethnicity, accent, and vocal characteristics.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0"/>
          <p:cNvSpPr/>
          <p:nvPr/>
        </p:nvSpPr>
        <p:spPr>
          <a:xfrm>
            <a:off x="5394960" y="3803904"/>
            <a:ext cx="73152" cy="68580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0"/>
          <p:cNvSpPr/>
          <p:nvPr/>
        </p:nvSpPr>
        <p:spPr>
          <a:xfrm>
            <a:off x="5559552" y="3840480"/>
            <a:ext cx="32186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Emotion Label Mapping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0"/>
          <p:cNvSpPr/>
          <p:nvPr/>
        </p:nvSpPr>
        <p:spPr>
          <a:xfrm>
            <a:off x="5559552" y="4059936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CREMA-D has 6 classes (no Calm or Surprised). Mapping to RAVDESS 8 classes introduces inherent classification uncertainty.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0"/>
          <p:cNvSpPr/>
          <p:nvPr/>
        </p:nvSpPr>
        <p:spPr>
          <a:xfrm>
            <a:off x="5394960" y="4636008"/>
            <a:ext cx="3474720" cy="182880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0"/>
          <p:cNvSpPr/>
          <p:nvPr/>
        </p:nvSpPr>
        <p:spPr>
          <a:xfrm>
            <a:off x="5486400" y="4645152"/>
            <a:ext cx="3383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This is a known limitation in SER research — even wav2vec2 drops ~20–30% cross-dataset.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1"/>
          <p:cNvSpPr/>
          <p:nvPr/>
        </p:nvSpPr>
        <p:spPr>
          <a:xfrm>
            <a:off x="502920" y="7315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1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System Architecture &amp; Flask API Demo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1"/>
          <p:cNvSpPr/>
          <p:nvPr/>
        </p:nvSpPr>
        <p:spPr>
          <a:xfrm>
            <a:off x="502920" y="896112"/>
            <a:ext cx="8138160" cy="2286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1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8102A"/>
          </a:solidFill>
          <a:ln cap="flat" cmpd="sng" w="12700">
            <a:solidFill>
              <a:srgbClr val="081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1"/>
          <p:cNvSpPr/>
          <p:nvPr/>
        </p:nvSpPr>
        <p:spPr>
          <a:xfrm>
            <a:off x="0" y="4882896"/>
            <a:ext cx="9144000" cy="16459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1"/>
          <p:cNvSpPr/>
          <p:nvPr/>
        </p:nvSpPr>
        <p:spPr>
          <a:xfrm>
            <a:off x="182880" y="489204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Team X  ·  IIT Jodhpur  ·  Speech Emotion Recognition  ·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1"/>
          <p:cNvSpPr/>
          <p:nvPr/>
        </p:nvSpPr>
        <p:spPr>
          <a:xfrm>
            <a:off x="502920" y="1024128"/>
            <a:ext cx="4114800" cy="530352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1"/>
          <p:cNvSpPr/>
          <p:nvPr/>
        </p:nvSpPr>
        <p:spPr>
          <a:xfrm>
            <a:off x="502920" y="1024128"/>
            <a:ext cx="91440" cy="53035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1"/>
          <p:cNvSpPr/>
          <p:nvPr/>
        </p:nvSpPr>
        <p:spPr>
          <a:xfrm>
            <a:off x="713232" y="108813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Web Browser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1"/>
          <p:cNvSpPr/>
          <p:nvPr/>
        </p:nvSpPr>
        <p:spPr>
          <a:xfrm>
            <a:off x="713232" y="1316736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frontend/index.html · localhost:8000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7" name="Google Shape;557;p11"/>
          <p:cNvCxnSpPr/>
          <p:nvPr/>
        </p:nvCxnSpPr>
        <p:spPr>
          <a:xfrm>
            <a:off x="2560320" y="1554480"/>
            <a:ext cx="0" cy="164592"/>
          </a:xfrm>
          <a:prstGeom prst="straightConnector1">
            <a:avLst/>
          </a:prstGeom>
          <a:noFill/>
          <a:ln cap="flat" cmpd="sng" w="9525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p11"/>
          <p:cNvSpPr/>
          <p:nvPr/>
        </p:nvSpPr>
        <p:spPr>
          <a:xfrm>
            <a:off x="2423160" y="157276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1"/>
          <p:cNvSpPr/>
          <p:nvPr/>
        </p:nvSpPr>
        <p:spPr>
          <a:xfrm>
            <a:off x="502920" y="1719072"/>
            <a:ext cx="4114800" cy="530352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1"/>
          <p:cNvSpPr/>
          <p:nvPr/>
        </p:nvSpPr>
        <p:spPr>
          <a:xfrm>
            <a:off x="502920" y="1719072"/>
            <a:ext cx="91440" cy="53035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1"/>
          <p:cNvSpPr/>
          <p:nvPr/>
        </p:nvSpPr>
        <p:spPr>
          <a:xfrm>
            <a:off x="713232" y="178308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Flask REST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1"/>
          <p:cNvSpPr/>
          <p:nvPr/>
        </p:nvSpPr>
        <p:spPr>
          <a:xfrm>
            <a:off x="713232" y="2011680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backend/app.py · localhost:5000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3" name="Google Shape;563;p11"/>
          <p:cNvCxnSpPr/>
          <p:nvPr/>
        </p:nvCxnSpPr>
        <p:spPr>
          <a:xfrm>
            <a:off x="2560320" y="2249424"/>
            <a:ext cx="0" cy="164592"/>
          </a:xfrm>
          <a:prstGeom prst="straightConnector1">
            <a:avLst/>
          </a:prstGeom>
          <a:noFill/>
          <a:ln cap="flat" cmpd="sng" w="9525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4" name="Google Shape;564;p11"/>
          <p:cNvSpPr/>
          <p:nvPr/>
        </p:nvSpPr>
        <p:spPr>
          <a:xfrm>
            <a:off x="2423160" y="226771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1"/>
          <p:cNvSpPr/>
          <p:nvPr/>
        </p:nvSpPr>
        <p:spPr>
          <a:xfrm>
            <a:off x="502920" y="2414016"/>
            <a:ext cx="4114800" cy="530352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1"/>
          <p:cNvSpPr/>
          <p:nvPr/>
        </p:nvSpPr>
        <p:spPr>
          <a:xfrm>
            <a:off x="502920" y="2414016"/>
            <a:ext cx="91440" cy="53035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1"/>
          <p:cNvSpPr/>
          <p:nvPr/>
        </p:nvSpPr>
        <p:spPr>
          <a:xfrm>
            <a:off x="713232" y="247802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Feature Extractor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1"/>
          <p:cNvSpPr/>
          <p:nvPr/>
        </p:nvSpPr>
        <p:spPr>
          <a:xfrm>
            <a:off x="713232" y="2706624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src/features/extractor.py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569;p11"/>
          <p:cNvCxnSpPr/>
          <p:nvPr/>
        </p:nvCxnSpPr>
        <p:spPr>
          <a:xfrm>
            <a:off x="2560320" y="2944368"/>
            <a:ext cx="0" cy="164592"/>
          </a:xfrm>
          <a:prstGeom prst="straightConnector1">
            <a:avLst/>
          </a:prstGeom>
          <a:noFill/>
          <a:ln cap="flat" cmpd="sng" w="9525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11"/>
          <p:cNvSpPr/>
          <p:nvPr/>
        </p:nvSpPr>
        <p:spPr>
          <a:xfrm>
            <a:off x="2423160" y="2962656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1"/>
          <p:cNvSpPr/>
          <p:nvPr/>
        </p:nvSpPr>
        <p:spPr>
          <a:xfrm>
            <a:off x="502920" y="3108960"/>
            <a:ext cx="4114800" cy="530352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1"/>
          <p:cNvSpPr/>
          <p:nvPr/>
        </p:nvSpPr>
        <p:spPr>
          <a:xfrm>
            <a:off x="502920" y="3108960"/>
            <a:ext cx="91440" cy="530352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1"/>
          <p:cNvSpPr/>
          <p:nvPr/>
        </p:nvSpPr>
        <p:spPr>
          <a:xfrm>
            <a:off x="713232" y="317296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CNN + Bi-LSTM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1"/>
          <p:cNvSpPr/>
          <p:nvPr/>
        </p:nvSpPr>
        <p:spPr>
          <a:xfrm>
            <a:off x="713232" y="3401568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models/ensemble_best.pth · 50 MB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5" name="Google Shape;575;p11"/>
          <p:cNvCxnSpPr/>
          <p:nvPr/>
        </p:nvCxnSpPr>
        <p:spPr>
          <a:xfrm>
            <a:off x="2560320" y="3639312"/>
            <a:ext cx="0" cy="164592"/>
          </a:xfrm>
          <a:prstGeom prst="straightConnector1">
            <a:avLst/>
          </a:prstGeom>
          <a:noFill/>
          <a:ln cap="flat" cmpd="sng" w="9525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11"/>
          <p:cNvSpPr/>
          <p:nvPr/>
        </p:nvSpPr>
        <p:spPr>
          <a:xfrm>
            <a:off x="2423160" y="36576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1"/>
          <p:cNvSpPr/>
          <p:nvPr/>
        </p:nvSpPr>
        <p:spPr>
          <a:xfrm>
            <a:off x="502920" y="3803904"/>
            <a:ext cx="4114800" cy="530352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1"/>
          <p:cNvSpPr/>
          <p:nvPr/>
        </p:nvSpPr>
        <p:spPr>
          <a:xfrm>
            <a:off x="502920" y="3803904"/>
            <a:ext cx="91440" cy="530352"/>
          </a:xfrm>
          <a:prstGeom prst="rect">
            <a:avLst/>
          </a:prstGeom>
          <a:solidFill>
            <a:srgbClr val="8899AA"/>
          </a:solidFill>
          <a:ln cap="flat" cmpd="sng" w="12700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1"/>
          <p:cNvSpPr/>
          <p:nvPr/>
        </p:nvSpPr>
        <p:spPr>
          <a:xfrm>
            <a:off x="713232" y="386791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JSON Response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1"/>
          <p:cNvSpPr/>
          <p:nvPr/>
        </p:nvSpPr>
        <p:spPr>
          <a:xfrm>
            <a:off x="713232" y="4096512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emotion + confidence + 8 probabilities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1"/>
          <p:cNvSpPr/>
          <p:nvPr/>
        </p:nvSpPr>
        <p:spPr>
          <a:xfrm>
            <a:off x="4892040" y="1005840"/>
            <a:ext cx="3977640" cy="2331720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1"/>
          <p:cNvSpPr/>
          <p:nvPr/>
        </p:nvSpPr>
        <p:spPr>
          <a:xfrm>
            <a:off x="5029200" y="107899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REST API ENDPOINTS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1"/>
          <p:cNvSpPr/>
          <p:nvPr/>
        </p:nvSpPr>
        <p:spPr>
          <a:xfrm>
            <a:off x="4983480" y="1371600"/>
            <a:ext cx="475488" cy="329184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1"/>
          <p:cNvSpPr/>
          <p:nvPr/>
        </p:nvSpPr>
        <p:spPr>
          <a:xfrm>
            <a:off x="4983480" y="1426464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1"/>
          <p:cNvSpPr/>
          <p:nvPr/>
        </p:nvSpPr>
        <p:spPr>
          <a:xfrm>
            <a:off x="5541264" y="1426464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/api/v1/health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1"/>
          <p:cNvSpPr/>
          <p:nvPr/>
        </p:nvSpPr>
        <p:spPr>
          <a:xfrm>
            <a:off x="5541264" y="1572768"/>
            <a:ext cx="3200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System status &amp; model info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1"/>
          <p:cNvSpPr/>
          <p:nvPr/>
        </p:nvSpPr>
        <p:spPr>
          <a:xfrm>
            <a:off x="4983480" y="1865376"/>
            <a:ext cx="475488" cy="329184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1"/>
          <p:cNvSpPr/>
          <p:nvPr/>
        </p:nvSpPr>
        <p:spPr>
          <a:xfrm>
            <a:off x="4983480" y="1920240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1"/>
          <p:cNvSpPr/>
          <p:nvPr/>
        </p:nvSpPr>
        <p:spPr>
          <a:xfrm>
            <a:off x="5541264" y="1920240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/api/v1/model-info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1"/>
          <p:cNvSpPr/>
          <p:nvPr/>
        </p:nvSpPr>
        <p:spPr>
          <a:xfrm>
            <a:off x="5541264" y="2066544"/>
            <a:ext cx="3200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Architecture &amp; emotion classes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1"/>
          <p:cNvSpPr/>
          <p:nvPr/>
        </p:nvSpPr>
        <p:spPr>
          <a:xfrm>
            <a:off x="4983480" y="2359152"/>
            <a:ext cx="475488" cy="32918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1"/>
          <p:cNvSpPr/>
          <p:nvPr/>
        </p:nvSpPr>
        <p:spPr>
          <a:xfrm>
            <a:off x="4983480" y="2414016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1"/>
          <p:cNvSpPr/>
          <p:nvPr/>
        </p:nvSpPr>
        <p:spPr>
          <a:xfrm>
            <a:off x="5541264" y="2414016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/api/v1/predict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1"/>
          <p:cNvSpPr/>
          <p:nvPr/>
        </p:nvSpPr>
        <p:spPr>
          <a:xfrm>
            <a:off x="5541264" y="2560320"/>
            <a:ext cx="3200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Single audio file prediction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1"/>
          <p:cNvSpPr/>
          <p:nvPr/>
        </p:nvSpPr>
        <p:spPr>
          <a:xfrm>
            <a:off x="4983480" y="2852928"/>
            <a:ext cx="475488" cy="32918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1"/>
          <p:cNvSpPr/>
          <p:nvPr/>
        </p:nvSpPr>
        <p:spPr>
          <a:xfrm>
            <a:off x="4983480" y="2907792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1"/>
          <p:cNvSpPr/>
          <p:nvPr/>
        </p:nvSpPr>
        <p:spPr>
          <a:xfrm>
            <a:off x="5541264" y="2907792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/api/v1/batch-predict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1"/>
          <p:cNvSpPr/>
          <p:nvPr/>
        </p:nvSpPr>
        <p:spPr>
          <a:xfrm>
            <a:off x="5541264" y="3054096"/>
            <a:ext cx="3200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Multiple files batch processing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1"/>
          <p:cNvSpPr/>
          <p:nvPr/>
        </p:nvSpPr>
        <p:spPr>
          <a:xfrm>
            <a:off x="4892040" y="3456432"/>
            <a:ext cx="3977640" cy="1280160"/>
          </a:xfrm>
          <a:prstGeom prst="rect">
            <a:avLst/>
          </a:prstGeom>
          <a:solidFill>
            <a:srgbClr val="050D18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1"/>
          <p:cNvSpPr/>
          <p:nvPr/>
        </p:nvSpPr>
        <p:spPr>
          <a:xfrm>
            <a:off x="5029200" y="3529584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QUICK START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1"/>
          <p:cNvSpPr/>
          <p:nvPr/>
        </p:nvSpPr>
        <p:spPr>
          <a:xfrm>
            <a:off x="5029200" y="3749040"/>
            <a:ext cx="374904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ourier New"/>
              <a:buNone/>
            </a:pPr>
            <a:r>
              <a:rPr b="0" i="1" lang="en-US" sz="850" u="none" cap="none" strike="noStrike">
                <a:solidFill>
                  <a:srgbClr val="8899AA"/>
                </a:solidFill>
                <a:latin typeface="Courier New"/>
                <a:ea typeface="Courier New"/>
                <a:cs typeface="Courier New"/>
                <a:sym typeface="Courier New"/>
              </a:rPr>
              <a:t># Terminal 1 — Backend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1"/>
          <p:cNvSpPr/>
          <p:nvPr/>
        </p:nvSpPr>
        <p:spPr>
          <a:xfrm>
            <a:off x="5029200" y="3863340"/>
            <a:ext cx="374904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C9A84C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-r backend/requirements.txt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1"/>
          <p:cNvSpPr/>
          <p:nvPr/>
        </p:nvSpPr>
        <p:spPr>
          <a:xfrm>
            <a:off x="5029200" y="3977640"/>
            <a:ext cx="374904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C9A84C"/>
                </a:solidFill>
                <a:latin typeface="Courier New"/>
                <a:ea typeface="Courier New"/>
                <a:cs typeface="Courier New"/>
                <a:sym typeface="Courier New"/>
              </a:rPr>
              <a:t>python backend/app.py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1"/>
          <p:cNvSpPr/>
          <p:nvPr/>
        </p:nvSpPr>
        <p:spPr>
          <a:xfrm>
            <a:off x="5029200" y="4206240"/>
            <a:ext cx="374904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ourier New"/>
              <a:buNone/>
            </a:pPr>
            <a:r>
              <a:rPr b="0" i="1" lang="en-US" sz="850" u="none" cap="none" strike="noStrike">
                <a:solidFill>
                  <a:srgbClr val="8899AA"/>
                </a:solidFill>
                <a:latin typeface="Courier New"/>
                <a:ea typeface="Courier New"/>
                <a:cs typeface="Courier New"/>
                <a:sym typeface="Courier New"/>
              </a:rPr>
              <a:t># Terminal 2 — Frontend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1"/>
          <p:cNvSpPr/>
          <p:nvPr/>
        </p:nvSpPr>
        <p:spPr>
          <a:xfrm>
            <a:off x="5029200" y="4320540"/>
            <a:ext cx="374904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C9A84C"/>
                </a:solidFill>
                <a:latin typeface="Courier New"/>
                <a:ea typeface="Courier New"/>
                <a:cs typeface="Courier New"/>
                <a:sym typeface="Courier New"/>
              </a:rPr>
              <a:t>python -m http.server 8000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1"/>
          <p:cNvSpPr/>
          <p:nvPr/>
        </p:nvSpPr>
        <p:spPr>
          <a:xfrm>
            <a:off x="5029200" y="4549140"/>
            <a:ext cx="374904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ourier New"/>
              <a:buNone/>
            </a:pPr>
            <a:r>
              <a:rPr b="0" i="1" lang="en-US" sz="850" u="none" cap="none" strike="noStrike">
                <a:solidFill>
                  <a:srgbClr val="8899AA"/>
                </a:solidFill>
                <a:latin typeface="Courier New"/>
                <a:ea typeface="Courier New"/>
                <a:cs typeface="Courier New"/>
                <a:sym typeface="Courier New"/>
              </a:rPr>
              <a:t># Browser → http://localhost:8000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1"/>
          <p:cNvSpPr/>
          <p:nvPr/>
        </p:nvSpPr>
        <p:spPr>
          <a:xfrm>
            <a:off x="502920" y="4617720"/>
            <a:ext cx="4114800" cy="201168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>
            <a:off x="594360" y="4636008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Supported: WAV · MP3 · OGG · FLAC · M4A · WebM · Opus · AAC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2"/>
          <p:cNvSpPr/>
          <p:nvPr/>
        </p:nvSpPr>
        <p:spPr>
          <a:xfrm>
            <a:off x="502920" y="7315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BENCHMARKING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2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Cambria"/>
              <a:buNone/>
            </a:pPr>
            <a:r>
              <a:rPr b="1" i="0" lang="en-US" sz="26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Comparison: Our Model vs. Hugging Face wav2vec2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2"/>
          <p:cNvSpPr/>
          <p:nvPr/>
        </p:nvSpPr>
        <p:spPr>
          <a:xfrm>
            <a:off x="502920" y="896112"/>
            <a:ext cx="8138160" cy="2286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2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8102A"/>
          </a:solidFill>
          <a:ln cap="flat" cmpd="sng" w="12700">
            <a:solidFill>
              <a:srgbClr val="081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2"/>
          <p:cNvSpPr/>
          <p:nvPr/>
        </p:nvSpPr>
        <p:spPr>
          <a:xfrm>
            <a:off x="0" y="4882896"/>
            <a:ext cx="9144000" cy="16459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2"/>
          <p:cNvSpPr/>
          <p:nvPr/>
        </p:nvSpPr>
        <p:spPr>
          <a:xfrm>
            <a:off x="182880" y="489204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Team X  ·  IIT Jodhpur  ·  Speech Emotion Recognition  ·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0" name="Google Shape;620;p12"/>
          <p:cNvGraphicFramePr/>
          <p:nvPr/>
        </p:nvGraphicFramePr>
        <p:xfrm>
          <a:off x="50292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{0642DE41-A561-48D9-83C5-F39529E43BE6}</a:tableStyleId>
              </a:tblPr>
              <a:tblGrid>
                <a:gridCol w="2194550"/>
                <a:gridCol w="3081525"/>
                <a:gridCol w="309067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162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16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Factor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162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16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Model (CNN+BiLSTM)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162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16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HF wav2vec2-base-superb-er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84C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9A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8899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CNN + Bi-LSTM Ensemble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Transformer (wav2vec2)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3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9A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8899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Pre-training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A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 (from scratch)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A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960h LibriSpeech + more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A2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9A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8899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 Epochs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 (CPU, early stopped)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Thousands (GPU clusters)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3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9A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8899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Size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A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1,440 samples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A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Millions of samples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A2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9A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8899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Size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MB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731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973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~360 MB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3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RAVDESS Test Accuracy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89.67%  ✓  BETTER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9A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8899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~70–80%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9A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8899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Cross-Dataset (CREMA-D)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A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16.34%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A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~50–60%  ✓  BETTER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A2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9A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8899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Inference Latency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5.85 ms  ✓  FASTER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~200–500 ms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3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9A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8899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 Required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A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only  ✓  ACCESSIBLE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A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731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973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GPU recommended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3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A2F"/>
                    </a:solidFill>
                  </a:tcPr>
                </a:tc>
              </a:tr>
            </a:tbl>
          </a:graphicData>
        </a:graphic>
      </p:graphicFrame>
      <p:sp>
        <p:nvSpPr>
          <p:cNvPr id="621" name="Google Shape;621;p12"/>
          <p:cNvSpPr/>
          <p:nvPr/>
        </p:nvSpPr>
        <p:spPr>
          <a:xfrm>
            <a:off x="502920" y="4626864"/>
            <a:ext cx="4133088" cy="228600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2"/>
          <p:cNvSpPr/>
          <p:nvPr/>
        </p:nvSpPr>
        <p:spPr>
          <a:xfrm>
            <a:off x="502920" y="4626864"/>
            <a:ext cx="54864" cy="2286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2"/>
          <p:cNvSpPr/>
          <p:nvPr/>
        </p:nvSpPr>
        <p:spPr>
          <a:xfrm>
            <a:off x="658368" y="4645152"/>
            <a:ext cx="3886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OUR STRENGTH: Outperforms wav2vec2 on RAVDESS by ~10–20%. Faster (5.85ms vs 200ms). CPU deployable.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2"/>
          <p:cNvSpPr/>
          <p:nvPr/>
        </p:nvSpPr>
        <p:spPr>
          <a:xfrm>
            <a:off x="4773168" y="4626864"/>
            <a:ext cx="4096512" cy="228600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2"/>
          <p:cNvSpPr/>
          <p:nvPr/>
        </p:nvSpPr>
        <p:spPr>
          <a:xfrm>
            <a:off x="4773168" y="4626864"/>
            <a:ext cx="54864" cy="2286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2"/>
          <p:cNvSpPr/>
          <p:nvPr/>
        </p:nvSpPr>
        <p:spPr>
          <a:xfrm>
            <a:off x="4928616" y="4645152"/>
            <a:ext cx="3858768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THEIR STRENGTH: Massive pre-training enables 3× better cross-dataset generalization. Use when RAVDESS-like data not available.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3"/>
          <p:cNvSpPr/>
          <p:nvPr/>
        </p:nvSpPr>
        <p:spPr>
          <a:xfrm>
            <a:off x="502920" y="914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SUMMARY · IIT JODHPUR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3"/>
          <p:cNvSpPr/>
          <p:nvPr/>
        </p:nvSpPr>
        <p:spPr>
          <a:xfrm>
            <a:off x="320040" y="32004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0F4F8"/>
                </a:solidFill>
                <a:latin typeface="Cambria"/>
                <a:ea typeface="Cambria"/>
                <a:cs typeface="Cambria"/>
                <a:sym typeface="Cambria"/>
              </a:rPr>
              <a:t>Conclusion &amp; Future 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3"/>
          <p:cNvSpPr/>
          <p:nvPr/>
        </p:nvSpPr>
        <p:spPr>
          <a:xfrm>
            <a:off x="320040" y="841248"/>
            <a:ext cx="2194560" cy="2286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3"/>
          <p:cNvSpPr/>
          <p:nvPr/>
        </p:nvSpPr>
        <p:spPr>
          <a:xfrm>
            <a:off x="320040" y="960120"/>
            <a:ext cx="4160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KEY ACHIEVEMENTS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3"/>
          <p:cNvSpPr/>
          <p:nvPr/>
        </p:nvSpPr>
        <p:spPr>
          <a:xfrm>
            <a:off x="320040" y="1243584"/>
            <a:ext cx="73152" cy="438912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3"/>
          <p:cNvSpPr/>
          <p:nvPr/>
        </p:nvSpPr>
        <p:spPr>
          <a:xfrm>
            <a:off x="502920" y="1243584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89.67% test accuracy on RAVDESS — surpasses wav2vec2 by 10–20% on target dataset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3"/>
          <p:cNvSpPr/>
          <p:nvPr/>
        </p:nvSpPr>
        <p:spPr>
          <a:xfrm>
            <a:off x="320040" y="1810512"/>
            <a:ext cx="73152" cy="43891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3"/>
          <p:cNvSpPr/>
          <p:nvPr/>
        </p:nvSpPr>
        <p:spPr>
          <a:xfrm>
            <a:off x="502920" y="1810512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5-type acoustic feature pipeline (MFCC, Mel-Spec, ZCR, RMSE, Chroma) successfully captures emotion signals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3"/>
          <p:cNvSpPr/>
          <p:nvPr/>
        </p:nvSpPr>
        <p:spPr>
          <a:xfrm>
            <a:off x="320040" y="2377440"/>
            <a:ext cx="73152" cy="43891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3"/>
          <p:cNvSpPr/>
          <p:nvPr/>
        </p:nvSpPr>
        <p:spPr>
          <a:xfrm>
            <a:off x="502920" y="2377440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Full-stack deployment: Flask API + Web UI with real-time 5.85ms latency inference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3"/>
          <p:cNvSpPr/>
          <p:nvPr/>
        </p:nvSpPr>
        <p:spPr>
          <a:xfrm>
            <a:off x="320040" y="2944368"/>
            <a:ext cx="73152" cy="43891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3"/>
          <p:cNvSpPr/>
          <p:nvPr/>
        </p:nvSpPr>
        <p:spPr>
          <a:xfrm>
            <a:off x="502920" y="2944368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CPU-only training in 34m 39s over 53 epochs demonstrates resource efficiency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3"/>
          <p:cNvSpPr/>
          <p:nvPr/>
        </p:nvSpPr>
        <p:spPr>
          <a:xfrm>
            <a:off x="320040" y="3511296"/>
            <a:ext cx="73152" cy="438912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3"/>
          <p:cNvSpPr/>
          <p:nvPr/>
        </p:nvSpPr>
        <p:spPr>
          <a:xfrm>
            <a:off x="502920" y="3511296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Cross-dataset evaluation on CREMA-D/TESS honestly documents generalization limits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3"/>
          <p:cNvSpPr/>
          <p:nvPr/>
        </p:nvSpPr>
        <p:spPr>
          <a:xfrm>
            <a:off x="320040" y="4133088"/>
            <a:ext cx="4160520" cy="658368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3"/>
          <p:cNvSpPr/>
          <p:nvPr/>
        </p:nvSpPr>
        <p:spPr>
          <a:xfrm>
            <a:off x="457200" y="420624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3"/>
          <p:cNvSpPr/>
          <p:nvPr/>
        </p:nvSpPr>
        <p:spPr>
          <a:xfrm>
            <a:off x="457200" y="440740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Cross-dataset drop (16.34% CREMA-D) · Trained on acted speech only · No data augmentation · CPU constraints limited training scale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3"/>
          <p:cNvSpPr/>
          <p:nvPr/>
        </p:nvSpPr>
        <p:spPr>
          <a:xfrm>
            <a:off x="4709160" y="960120"/>
            <a:ext cx="4160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3"/>
          <p:cNvSpPr/>
          <p:nvPr/>
        </p:nvSpPr>
        <p:spPr>
          <a:xfrm>
            <a:off x="4709160" y="1243584"/>
            <a:ext cx="2029968" cy="896112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3"/>
          <p:cNvSpPr/>
          <p:nvPr/>
        </p:nvSpPr>
        <p:spPr>
          <a:xfrm>
            <a:off x="4709160" y="1243584"/>
            <a:ext cx="2029968" cy="18288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3"/>
          <p:cNvSpPr/>
          <p:nvPr/>
        </p:nvSpPr>
        <p:spPr>
          <a:xfrm>
            <a:off x="4782312" y="1261872"/>
            <a:ext cx="18836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Multi-Dataset Training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3"/>
          <p:cNvSpPr/>
          <p:nvPr/>
        </p:nvSpPr>
        <p:spPr>
          <a:xfrm>
            <a:off x="4782312" y="1481328"/>
            <a:ext cx="188366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Train jointly on RAVDESS + CREMA-D + TESS to boost cross-domain generalization significantly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3"/>
          <p:cNvSpPr/>
          <p:nvPr/>
        </p:nvSpPr>
        <p:spPr>
          <a:xfrm>
            <a:off x="6858000" y="1243584"/>
            <a:ext cx="2029968" cy="896112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3"/>
          <p:cNvSpPr/>
          <p:nvPr/>
        </p:nvSpPr>
        <p:spPr>
          <a:xfrm>
            <a:off x="6858000" y="1243584"/>
            <a:ext cx="2029968" cy="18288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3"/>
          <p:cNvSpPr/>
          <p:nvPr/>
        </p:nvSpPr>
        <p:spPr>
          <a:xfrm>
            <a:off x="6931152" y="1261872"/>
            <a:ext cx="18836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Attention Mechanism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3"/>
          <p:cNvSpPr/>
          <p:nvPr/>
        </p:nvSpPr>
        <p:spPr>
          <a:xfrm>
            <a:off x="6931152" y="1481328"/>
            <a:ext cx="188366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Add self-attention on Bi-LSTM output to focus on emotionally salient speech frames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3"/>
          <p:cNvSpPr/>
          <p:nvPr/>
        </p:nvSpPr>
        <p:spPr>
          <a:xfrm>
            <a:off x="4709160" y="2267712"/>
            <a:ext cx="2029968" cy="896112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3"/>
          <p:cNvSpPr/>
          <p:nvPr/>
        </p:nvSpPr>
        <p:spPr>
          <a:xfrm>
            <a:off x="4709160" y="2267712"/>
            <a:ext cx="2029968" cy="18288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3"/>
          <p:cNvSpPr/>
          <p:nvPr/>
        </p:nvSpPr>
        <p:spPr>
          <a:xfrm>
            <a:off x="4782312" y="2286000"/>
            <a:ext cx="18836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Data Augmentation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3"/>
          <p:cNvSpPr/>
          <p:nvPr/>
        </p:nvSpPr>
        <p:spPr>
          <a:xfrm>
            <a:off x="4782312" y="2505456"/>
            <a:ext cx="188366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Pitch shift, time stretch, noise injection to expand effective training set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3"/>
          <p:cNvSpPr/>
          <p:nvPr/>
        </p:nvSpPr>
        <p:spPr>
          <a:xfrm>
            <a:off x="6858000" y="2267712"/>
            <a:ext cx="2029968" cy="896112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3"/>
          <p:cNvSpPr/>
          <p:nvPr/>
        </p:nvSpPr>
        <p:spPr>
          <a:xfrm>
            <a:off x="6858000" y="2267712"/>
            <a:ext cx="2029968" cy="18288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3"/>
          <p:cNvSpPr/>
          <p:nvPr/>
        </p:nvSpPr>
        <p:spPr>
          <a:xfrm>
            <a:off x="6931152" y="2286000"/>
            <a:ext cx="18836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Fine-tune wav2vec2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3"/>
          <p:cNvSpPr/>
          <p:nvPr/>
        </p:nvSpPr>
        <p:spPr>
          <a:xfrm>
            <a:off x="6931152" y="2505456"/>
            <a:ext cx="188366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Use pre-trained Transformer backbone, fine-tune on RAVDESS — best of both approaches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3"/>
          <p:cNvSpPr/>
          <p:nvPr/>
        </p:nvSpPr>
        <p:spPr>
          <a:xfrm>
            <a:off x="4709160" y="3291840"/>
            <a:ext cx="2029968" cy="896112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3"/>
          <p:cNvSpPr/>
          <p:nvPr/>
        </p:nvSpPr>
        <p:spPr>
          <a:xfrm>
            <a:off x="4709160" y="3291840"/>
            <a:ext cx="2029968" cy="18288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3"/>
          <p:cNvSpPr/>
          <p:nvPr/>
        </p:nvSpPr>
        <p:spPr>
          <a:xfrm>
            <a:off x="4782312" y="3310128"/>
            <a:ext cx="18836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Mobile Deployment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3"/>
          <p:cNvSpPr/>
          <p:nvPr/>
        </p:nvSpPr>
        <p:spPr>
          <a:xfrm>
            <a:off x="4782312" y="3529584"/>
            <a:ext cx="188366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ONNX export + TFLite quantization for on-device real-time mobile inference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3"/>
          <p:cNvSpPr/>
          <p:nvPr/>
        </p:nvSpPr>
        <p:spPr>
          <a:xfrm>
            <a:off x="6858000" y="3291840"/>
            <a:ext cx="2029968" cy="896112"/>
          </a:xfrm>
          <a:prstGeom prst="rect">
            <a:avLst/>
          </a:prstGeom>
          <a:solidFill>
            <a:srgbClr val="0E1E36"/>
          </a:solidFill>
          <a:ln cap="flat" cmpd="sng" w="9525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3"/>
          <p:cNvSpPr/>
          <p:nvPr/>
        </p:nvSpPr>
        <p:spPr>
          <a:xfrm>
            <a:off x="6858000" y="3291840"/>
            <a:ext cx="2029968" cy="182880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3"/>
          <p:cNvSpPr/>
          <p:nvPr/>
        </p:nvSpPr>
        <p:spPr>
          <a:xfrm>
            <a:off x="6931152" y="3310128"/>
            <a:ext cx="18836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Dimensional Emotion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3"/>
          <p:cNvSpPr/>
          <p:nvPr/>
        </p:nvSpPr>
        <p:spPr>
          <a:xfrm>
            <a:off x="6931152" y="3529584"/>
            <a:ext cx="188366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Extend from categorical to valence-arousal-dominance space for richer representation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3"/>
          <p:cNvSpPr/>
          <p:nvPr/>
        </p:nvSpPr>
        <p:spPr>
          <a:xfrm>
            <a:off x="4709160" y="4315968"/>
            <a:ext cx="4160520" cy="658368"/>
          </a:xfrm>
          <a:prstGeom prst="rect">
            <a:avLst/>
          </a:prstGeom>
          <a:solidFill>
            <a:srgbClr val="091A2F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3"/>
          <p:cNvSpPr/>
          <p:nvPr/>
        </p:nvSpPr>
        <p:spPr>
          <a:xfrm>
            <a:off x="4800600" y="4389120"/>
            <a:ext cx="3977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Thank You — Questions Welcome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3"/>
          <p:cNvSpPr/>
          <p:nvPr/>
        </p:nvSpPr>
        <p:spPr>
          <a:xfrm>
            <a:off x="4800600" y="4636008"/>
            <a:ext cx="3977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Team X · IIT Jodhpur · Asit Jain · Avinash Singh · Prashant Kumar Mishra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2026-04-18T17:20:21Z</dcterms:created>
  <dc:creator>Team X - IIT Jodhpur</dc:creator>
</cp:coreProperties>
</file>